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Roboto"/>
      <p:regular r:id="rId28"/>
      <p:bold r:id="rId29"/>
      <p:italic r:id="rId30"/>
      <p:boldItalic r:id="rId31"/>
    </p:embeddedFont>
    <p:embeddedFont>
      <p:font typeface="Roboto Medium"/>
      <p:regular r:id="rId32"/>
      <p:bold r:id="rId33"/>
      <p:italic r:id="rId34"/>
      <p:boldItalic r:id="rId35"/>
    </p:embeddedFont>
    <p:embeddedFont>
      <p:font typeface="Roboto Light"/>
      <p:regular r:id="rId36"/>
      <p:bold r:id="rId37"/>
      <p:italic r:id="rId38"/>
      <p:boldItalic r:id="rId39"/>
    </p:embeddedFont>
    <p:embeddedFont>
      <p:font typeface="Roboto Serif SemiBold"/>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hAHJlesWyRIFulUdUEVyni4cF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SerifSemiBold-regular.fntdata"/><Relationship Id="rId20" Type="http://schemas.openxmlformats.org/officeDocument/2006/relationships/slide" Target="slides/slide16.xml"/><Relationship Id="rId42" Type="http://schemas.openxmlformats.org/officeDocument/2006/relationships/font" Target="fonts/RobotoSerifSemiBold-italic.fntdata"/><Relationship Id="rId41" Type="http://schemas.openxmlformats.org/officeDocument/2006/relationships/font" Target="fonts/RobotoSerifSemiBold-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RobotoSerifSemiBold-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Robot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7.xml"/><Relationship Id="rId33" Type="http://schemas.openxmlformats.org/officeDocument/2006/relationships/font" Target="fonts/RobotoMedium-bold.fntdata"/><Relationship Id="rId10" Type="http://schemas.openxmlformats.org/officeDocument/2006/relationships/slide" Target="slides/slide6.xml"/><Relationship Id="rId32" Type="http://schemas.openxmlformats.org/officeDocument/2006/relationships/font" Target="fonts/RobotoMedium-regular.fntdata"/><Relationship Id="rId13" Type="http://schemas.openxmlformats.org/officeDocument/2006/relationships/slide" Target="slides/slide9.xml"/><Relationship Id="rId35" Type="http://schemas.openxmlformats.org/officeDocument/2006/relationships/font" Target="fonts/RobotoMedium-boldItalic.fntdata"/><Relationship Id="rId12" Type="http://schemas.openxmlformats.org/officeDocument/2006/relationships/slide" Target="slides/slide8.xml"/><Relationship Id="rId34" Type="http://schemas.openxmlformats.org/officeDocument/2006/relationships/font" Target="fonts/RobotoMedium-italic.fntdata"/><Relationship Id="rId15" Type="http://schemas.openxmlformats.org/officeDocument/2006/relationships/slide" Target="slides/slide11.xml"/><Relationship Id="rId37" Type="http://schemas.openxmlformats.org/officeDocument/2006/relationships/font" Target="fonts/RobotoLight-bold.fntdata"/><Relationship Id="rId14" Type="http://schemas.openxmlformats.org/officeDocument/2006/relationships/slide" Target="slides/slide10.xml"/><Relationship Id="rId36" Type="http://schemas.openxmlformats.org/officeDocument/2006/relationships/font" Target="fonts/RobotoLight-regular.fntdata"/><Relationship Id="rId17" Type="http://schemas.openxmlformats.org/officeDocument/2006/relationships/slide" Target="slides/slide13.xml"/><Relationship Id="rId39" Type="http://schemas.openxmlformats.org/officeDocument/2006/relationships/font" Target="fonts/RobotoLight-boldItalic.fntdata"/><Relationship Id="rId16" Type="http://schemas.openxmlformats.org/officeDocument/2006/relationships/slide" Target="slides/slide12.xml"/><Relationship Id="rId38" Type="http://schemas.openxmlformats.org/officeDocument/2006/relationships/font" Target="fonts/RobotoLight-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2a09efe0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g3f62a09efe0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72392adc6_1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f72392adc6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72392adc6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f72392adc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72392adc6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f72392adc6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62a09efe0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f62a09efe0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72392adc6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f72392adc6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2a09efe0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f62a09efe0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62a09efe0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f62a09efe0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72392adc6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f72392adc6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72392adc6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f72392adc6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62a09efe0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f62a09efe0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62a09efe0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f62a09efe0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72392adc6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3f72392adc6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6585972d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f6585972de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6585972de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f6585972de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6585972de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g3f6585972de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72392adc6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f72392adc6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72392adc6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3f72392adc6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72392adc6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3f72392adc6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6585972de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f6585972de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6e57068a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f6e57068a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pic>
        <p:nvPicPr>
          <p:cNvPr descr="A black and red background&#10;&#10;Description automatically generated" id="11" name="Google Shape;11;g3f6585972de_0_138"/>
          <p:cNvPicPr preferRelativeResize="0"/>
          <p:nvPr/>
        </p:nvPicPr>
        <p:blipFill rotWithShape="1">
          <a:blip r:embed="rId2">
            <a:alphaModFix/>
          </a:blip>
          <a:srcRect b="0" l="65507" r="0" t="39911"/>
          <a:stretch/>
        </p:blipFill>
        <p:spPr>
          <a:xfrm>
            <a:off x="7986532" y="2740694"/>
            <a:ext cx="4205468" cy="4117306"/>
          </a:xfrm>
          <a:prstGeom prst="rect">
            <a:avLst/>
          </a:prstGeom>
          <a:noFill/>
          <a:ln>
            <a:noFill/>
          </a:ln>
        </p:spPr>
      </p:pic>
      <p:pic>
        <p:nvPicPr>
          <p:cNvPr id="12" name="Google Shape;12;g3f6585972de_0_138"/>
          <p:cNvPicPr preferRelativeResize="0"/>
          <p:nvPr/>
        </p:nvPicPr>
        <p:blipFill rotWithShape="1">
          <a:blip r:embed="rId3">
            <a:alphaModFix/>
          </a:blip>
          <a:srcRect b="0" l="0" r="51988" t="0"/>
          <a:stretch/>
        </p:blipFill>
        <p:spPr>
          <a:xfrm rot="10800000">
            <a:off x="0" y="0"/>
            <a:ext cx="3070033" cy="925733"/>
          </a:xfrm>
          <a:prstGeom prst="rect">
            <a:avLst/>
          </a:prstGeom>
          <a:noFill/>
          <a:ln>
            <a:noFill/>
          </a:ln>
        </p:spPr>
      </p:pic>
      <p:sp>
        <p:nvSpPr>
          <p:cNvPr id="13" name="Google Shape;13;g3f6585972de_0_138"/>
          <p:cNvSpPr txBox="1"/>
          <p:nvPr>
            <p:ph type="ctrTitle"/>
          </p:nvPr>
        </p:nvSpPr>
        <p:spPr>
          <a:xfrm>
            <a:off x="415600" y="992767"/>
            <a:ext cx="7850100" cy="2264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5200"/>
              <a:buFont typeface="Roboto Serif SemiBold"/>
              <a:buNone/>
              <a:defRPr b="0" sz="6933">
                <a:latin typeface="Roboto Serif SemiBold"/>
                <a:ea typeface="Roboto Serif SemiBold"/>
                <a:cs typeface="Roboto Serif SemiBold"/>
                <a:sym typeface="Roboto Serif SemiBold"/>
              </a:defRPr>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4" name="Google Shape;14;g3f6585972de_0_138"/>
          <p:cNvSpPr txBox="1"/>
          <p:nvPr>
            <p:ph idx="1" type="subTitle"/>
          </p:nvPr>
        </p:nvSpPr>
        <p:spPr>
          <a:xfrm>
            <a:off x="415599" y="3429000"/>
            <a:ext cx="7850100" cy="1884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2000"/>
              </a:spcBef>
              <a:spcAft>
                <a:spcPts val="0"/>
              </a:spcAft>
              <a:buClr>
                <a:schemeClr val="lt1"/>
              </a:buClr>
              <a:buSzPts val="2800"/>
              <a:buNone/>
              <a:defRPr sz="3733">
                <a:solidFill>
                  <a:schemeClr val="lt1"/>
                </a:solidFill>
              </a:defRPr>
            </a:lvl1pPr>
            <a:lvl2pPr lvl="1" algn="l">
              <a:lnSpc>
                <a:spcPct val="100000"/>
              </a:lnSpc>
              <a:spcBef>
                <a:spcPts val="0"/>
              </a:spcBef>
              <a:spcAft>
                <a:spcPts val="0"/>
              </a:spcAft>
              <a:buSzPts val="2800"/>
              <a:buNone/>
              <a:defRPr sz="3733"/>
            </a:lvl2pPr>
            <a:lvl3pPr lvl="2" algn="l">
              <a:lnSpc>
                <a:spcPct val="100000"/>
              </a:lnSpc>
              <a:spcBef>
                <a:spcPts val="0"/>
              </a:spcBef>
              <a:spcAft>
                <a:spcPts val="0"/>
              </a:spcAft>
              <a:buSzPts val="2800"/>
              <a:buNone/>
              <a:defRPr sz="3733"/>
            </a:lvl3pPr>
            <a:lvl4pPr lvl="3" algn="l">
              <a:lnSpc>
                <a:spcPct val="100000"/>
              </a:lnSpc>
              <a:spcBef>
                <a:spcPts val="0"/>
              </a:spcBef>
              <a:spcAft>
                <a:spcPts val="0"/>
              </a:spcAft>
              <a:buSzPts val="2800"/>
              <a:buNone/>
              <a:defRPr sz="3733"/>
            </a:lvl4pPr>
            <a:lvl5pPr lvl="4" algn="l">
              <a:lnSpc>
                <a:spcPct val="100000"/>
              </a:lnSpc>
              <a:spcBef>
                <a:spcPts val="0"/>
              </a:spcBef>
              <a:spcAft>
                <a:spcPts val="0"/>
              </a:spcAft>
              <a:buSzPts val="2800"/>
              <a:buNone/>
              <a:defRPr sz="3733"/>
            </a:lvl5pPr>
            <a:lvl6pPr lvl="5" algn="l">
              <a:lnSpc>
                <a:spcPct val="100000"/>
              </a:lnSpc>
              <a:spcBef>
                <a:spcPts val="0"/>
              </a:spcBef>
              <a:spcAft>
                <a:spcPts val="0"/>
              </a:spcAft>
              <a:buSzPts val="2800"/>
              <a:buNone/>
              <a:defRPr sz="3733"/>
            </a:lvl6pPr>
            <a:lvl7pPr lvl="6" algn="l">
              <a:lnSpc>
                <a:spcPct val="100000"/>
              </a:lnSpc>
              <a:spcBef>
                <a:spcPts val="0"/>
              </a:spcBef>
              <a:spcAft>
                <a:spcPts val="0"/>
              </a:spcAft>
              <a:buSzPts val="2800"/>
              <a:buNone/>
              <a:defRPr sz="3733"/>
            </a:lvl7pPr>
            <a:lvl8pPr lvl="7" algn="l">
              <a:lnSpc>
                <a:spcPct val="100000"/>
              </a:lnSpc>
              <a:spcBef>
                <a:spcPts val="0"/>
              </a:spcBef>
              <a:spcAft>
                <a:spcPts val="0"/>
              </a:spcAft>
              <a:buSzPts val="2800"/>
              <a:buNone/>
              <a:defRPr sz="3733"/>
            </a:lvl8pPr>
            <a:lvl9pPr lvl="8" algn="l">
              <a:lnSpc>
                <a:spcPct val="100000"/>
              </a:lnSpc>
              <a:spcBef>
                <a:spcPts val="0"/>
              </a:spcBef>
              <a:spcAft>
                <a:spcPts val="0"/>
              </a:spcAft>
              <a:buSzPts val="2800"/>
              <a:buNone/>
              <a:defRPr sz="3733"/>
            </a:lvl9pPr>
          </a:lstStyle>
          <a:p/>
        </p:txBody>
      </p:sp>
      <p:sp>
        <p:nvSpPr>
          <p:cNvPr id="15" name="Google Shape;15;g3f6585972de_0_138"/>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ne">
  <p:cSld name="1_Blank None 2">
    <p:spTree>
      <p:nvGrpSpPr>
        <p:cNvPr id="16" name="Shape 16"/>
        <p:cNvGrpSpPr/>
        <p:nvPr/>
      </p:nvGrpSpPr>
      <p:grpSpPr>
        <a:xfrm>
          <a:off x="0" y="0"/>
          <a:ext cx="0" cy="0"/>
          <a:chOff x="0" y="0"/>
          <a:chExt cx="0" cy="0"/>
        </a:xfrm>
      </p:grpSpPr>
      <p:sp>
        <p:nvSpPr>
          <p:cNvPr id="17" name="Google Shape;17;g3f6585972de_0_156"/>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g3f6585972de_0_156"/>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9" name="Shape 19"/>
        <p:cNvGrpSpPr/>
        <p:nvPr/>
      </p:nvGrpSpPr>
      <p:grpSpPr>
        <a:xfrm>
          <a:off x="0" y="0"/>
          <a:ext cx="0" cy="0"/>
          <a:chOff x="0" y="0"/>
          <a:chExt cx="0" cy="0"/>
        </a:xfrm>
      </p:grpSpPr>
      <p:pic>
        <p:nvPicPr>
          <p:cNvPr descr="A black and red background&#10;&#10;Description automatically generated" id="20" name="Google Shape;20;g3f6585972de_0_159"/>
          <p:cNvPicPr preferRelativeResize="0"/>
          <p:nvPr/>
        </p:nvPicPr>
        <p:blipFill rotWithShape="1">
          <a:blip r:embed="rId2">
            <a:alphaModFix/>
          </a:blip>
          <a:srcRect b="0" l="65507" r="0" t="39911"/>
          <a:stretch/>
        </p:blipFill>
        <p:spPr>
          <a:xfrm rot="-5400000">
            <a:off x="8030613" y="44081"/>
            <a:ext cx="4205468" cy="4117306"/>
          </a:xfrm>
          <a:prstGeom prst="rect">
            <a:avLst/>
          </a:prstGeom>
          <a:noFill/>
          <a:ln>
            <a:noFill/>
          </a:ln>
        </p:spPr>
      </p:pic>
      <p:pic>
        <p:nvPicPr>
          <p:cNvPr id="21" name="Google Shape;21;g3f6585972de_0_159"/>
          <p:cNvPicPr preferRelativeResize="0"/>
          <p:nvPr/>
        </p:nvPicPr>
        <p:blipFill rotWithShape="1">
          <a:blip r:embed="rId3">
            <a:alphaModFix/>
          </a:blip>
          <a:srcRect b="0" l="0" r="51988" t="0"/>
          <a:stretch/>
        </p:blipFill>
        <p:spPr>
          <a:xfrm rot="5400000">
            <a:off x="-1072150" y="4860117"/>
            <a:ext cx="3070033" cy="925733"/>
          </a:xfrm>
          <a:prstGeom prst="rect">
            <a:avLst/>
          </a:prstGeom>
          <a:noFill/>
          <a:ln>
            <a:noFill/>
          </a:ln>
        </p:spPr>
      </p:pic>
      <p:sp>
        <p:nvSpPr>
          <p:cNvPr id="22" name="Google Shape;22;g3f6585972de_0_159"/>
          <p:cNvSpPr txBox="1"/>
          <p:nvPr>
            <p:ph type="ctrTitle"/>
          </p:nvPr>
        </p:nvSpPr>
        <p:spPr>
          <a:xfrm>
            <a:off x="633046" y="2296608"/>
            <a:ext cx="9043500" cy="2264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Font typeface="Roboto Serif SemiBold"/>
              <a:buNone/>
              <a:defRPr b="0" sz="6933">
                <a:latin typeface="Roboto Serif SemiBold"/>
                <a:ea typeface="Roboto Serif SemiBold"/>
                <a:cs typeface="Roboto Serif SemiBold"/>
                <a:sym typeface="Roboto Serif SemiBold"/>
              </a:defRPr>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3" name="Google Shape;23;g3f6585972de_0_159"/>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ne">
  <p:cSld name="Blank None">
    <p:spTree>
      <p:nvGrpSpPr>
        <p:cNvPr id="24" name="Shape 24"/>
        <p:cNvGrpSpPr/>
        <p:nvPr/>
      </p:nvGrpSpPr>
      <p:grpSpPr>
        <a:xfrm>
          <a:off x="0" y="0"/>
          <a:ext cx="0" cy="0"/>
          <a:chOff x="0" y="0"/>
          <a:chExt cx="0" cy="0"/>
        </a:xfrm>
      </p:grpSpPr>
      <p:pic>
        <p:nvPicPr>
          <p:cNvPr descr="A black and red background&#10;&#10;Description automatically generated" id="25" name="Google Shape;25;g3f6585972de_0_144"/>
          <p:cNvPicPr preferRelativeResize="0"/>
          <p:nvPr/>
        </p:nvPicPr>
        <p:blipFill rotWithShape="1">
          <a:blip r:embed="rId2">
            <a:alphaModFix/>
          </a:blip>
          <a:srcRect b="0" l="0" r="0" t="0"/>
          <a:stretch/>
        </p:blipFill>
        <p:spPr>
          <a:xfrm>
            <a:off x="-1" y="0"/>
            <a:ext cx="12202848" cy="6858000"/>
          </a:xfrm>
          <a:prstGeom prst="rect">
            <a:avLst/>
          </a:prstGeom>
          <a:noFill/>
          <a:ln>
            <a:noFill/>
          </a:ln>
        </p:spPr>
      </p:pic>
      <p:sp>
        <p:nvSpPr>
          <p:cNvPr id="26" name="Google Shape;26;g3f6585972de_0_144"/>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g3f6585972de_0_144"/>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8" name="Google Shape;28;g3f6585972de_0_144"/>
          <p:cNvSpPr/>
          <p:nvPr/>
        </p:nvSpPr>
        <p:spPr>
          <a:xfrm rot="5400000">
            <a:off x="-698228" y="4447290"/>
            <a:ext cx="3108900" cy="17124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g3f6585972de_0_144"/>
          <p:cNvSpPr txBox="1"/>
          <p:nvPr>
            <p:ph idx="1" type="body"/>
          </p:nvPr>
        </p:nvSpPr>
        <p:spPr>
          <a:xfrm>
            <a:off x="415599" y="1536633"/>
            <a:ext cx="7837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Font typeface="Roboto Light"/>
              <a:buChar char="■"/>
              <a:defRPr sz="1600">
                <a:latin typeface="Roboto Light"/>
                <a:ea typeface="Roboto Light"/>
                <a:cs typeface="Roboto Light"/>
                <a:sym typeface="Roboto Light"/>
              </a:defRPr>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ne">
  <p:cSld name="1_Blank None">
    <p:spTree>
      <p:nvGrpSpPr>
        <p:cNvPr id="30" name="Shape 30"/>
        <p:cNvGrpSpPr/>
        <p:nvPr/>
      </p:nvGrpSpPr>
      <p:grpSpPr>
        <a:xfrm>
          <a:off x="0" y="0"/>
          <a:ext cx="0" cy="0"/>
          <a:chOff x="0" y="0"/>
          <a:chExt cx="0" cy="0"/>
        </a:xfrm>
      </p:grpSpPr>
      <p:pic>
        <p:nvPicPr>
          <p:cNvPr descr="A black and red background&#10;&#10;Description automatically generated" id="31" name="Google Shape;31;g3f6585972de_0_150"/>
          <p:cNvPicPr preferRelativeResize="0"/>
          <p:nvPr/>
        </p:nvPicPr>
        <p:blipFill rotWithShape="1">
          <a:blip r:embed="rId2">
            <a:alphaModFix/>
          </a:blip>
          <a:srcRect b="0" l="0" r="0" t="0"/>
          <a:stretch/>
        </p:blipFill>
        <p:spPr>
          <a:xfrm>
            <a:off x="0" y="0"/>
            <a:ext cx="12192000" cy="6851904"/>
          </a:xfrm>
          <a:prstGeom prst="rect">
            <a:avLst/>
          </a:prstGeom>
          <a:noFill/>
          <a:ln>
            <a:noFill/>
          </a:ln>
        </p:spPr>
      </p:pic>
      <p:sp>
        <p:nvSpPr>
          <p:cNvPr id="32" name="Google Shape;32;g3f6585972de_0_150"/>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g3f6585972de_0_150"/>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34" name="Google Shape;34;g3f6585972de_0_150"/>
          <p:cNvSpPr/>
          <p:nvPr/>
        </p:nvSpPr>
        <p:spPr>
          <a:xfrm rot="5400000">
            <a:off x="-698228" y="4447290"/>
            <a:ext cx="3108900" cy="17124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3f6585972de_0_150"/>
          <p:cNvSpPr txBox="1"/>
          <p:nvPr>
            <p:ph idx="1" type="body"/>
          </p:nvPr>
        </p:nvSpPr>
        <p:spPr>
          <a:xfrm>
            <a:off x="415599" y="1536633"/>
            <a:ext cx="7837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Font typeface="Roboto Light"/>
              <a:buChar char="■"/>
              <a:defRPr sz="1600">
                <a:latin typeface="Roboto Light"/>
                <a:ea typeface="Roboto Light"/>
                <a:cs typeface="Roboto Light"/>
                <a:sym typeface="Roboto Light"/>
              </a:defRPr>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3f6585972de_0_164"/>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g3f6585972de_0_164"/>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g3f6585972de_0_167"/>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g3f6585972de_0_167"/>
          <p:cNvSpPr txBox="1"/>
          <p:nvPr>
            <p:ph idx="1" type="body"/>
          </p:nvPr>
        </p:nvSpPr>
        <p:spPr>
          <a:xfrm>
            <a:off x="415600" y="1536633"/>
            <a:ext cx="53331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Font typeface="Roboto Light"/>
              <a:buChar char="■"/>
              <a:defRPr sz="1600">
                <a:latin typeface="Roboto Light"/>
                <a:ea typeface="Roboto Light"/>
                <a:cs typeface="Roboto Light"/>
                <a:sym typeface="Roboto Light"/>
              </a:defRPr>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42" name="Google Shape;42;g3f6585972de_0_167"/>
          <p:cNvSpPr txBox="1"/>
          <p:nvPr>
            <p:ph idx="2" type="body"/>
          </p:nvPr>
        </p:nvSpPr>
        <p:spPr>
          <a:xfrm>
            <a:off x="6443200" y="1536633"/>
            <a:ext cx="53331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2000"/>
              </a:spcBef>
              <a:spcAft>
                <a:spcPts val="0"/>
              </a:spcAft>
              <a:buSzPts val="1400"/>
              <a:buChar char="&gt;"/>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43" name="Google Shape;43;g3f6585972de_0_167"/>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4" name="Shape 44"/>
        <p:cNvGrpSpPr/>
        <p:nvPr/>
      </p:nvGrpSpPr>
      <p:grpSpPr>
        <a:xfrm>
          <a:off x="0" y="0"/>
          <a:ext cx="0" cy="0"/>
          <a:chOff x="0" y="0"/>
          <a:chExt cx="0" cy="0"/>
        </a:xfrm>
      </p:grpSpPr>
      <p:sp>
        <p:nvSpPr>
          <p:cNvPr id="45" name="Google Shape;45;g3f6585972de_0_172"/>
          <p:cNvSpPr txBox="1"/>
          <p:nvPr>
            <p:ph idx="1" type="body"/>
          </p:nvPr>
        </p:nvSpPr>
        <p:spPr>
          <a:xfrm>
            <a:off x="415600" y="5640767"/>
            <a:ext cx="79983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2000"/>
              </a:spcBef>
              <a:spcAft>
                <a:spcPts val="0"/>
              </a:spcAft>
              <a:buClr>
                <a:schemeClr val="lt1"/>
              </a:buClr>
              <a:buSzPts val="1800"/>
              <a:buNone/>
              <a:defRPr>
                <a:solidFill>
                  <a:schemeClr val="lt1"/>
                </a:solidFill>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g3f6585972de_0_172"/>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7" name="Shape 47"/>
        <p:cNvGrpSpPr/>
        <p:nvPr/>
      </p:nvGrpSpPr>
      <p:grpSpPr>
        <a:xfrm>
          <a:off x="0" y="0"/>
          <a:ext cx="0" cy="0"/>
          <a:chOff x="0" y="0"/>
          <a:chExt cx="0" cy="0"/>
        </a:xfrm>
      </p:grpSpPr>
      <p:sp>
        <p:nvSpPr>
          <p:cNvPr id="48" name="Google Shape;48;g3f6585972de_0_175"/>
          <p:cNvSpPr txBox="1"/>
          <p:nvPr>
            <p:ph type="title"/>
          </p:nvPr>
        </p:nvSpPr>
        <p:spPr>
          <a:xfrm>
            <a:off x="415600" y="1474833"/>
            <a:ext cx="113607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49" name="Google Shape;49;g3f6585972de_0_175"/>
          <p:cNvSpPr txBox="1"/>
          <p:nvPr>
            <p:ph idx="1" type="body"/>
          </p:nvPr>
        </p:nvSpPr>
        <p:spPr>
          <a:xfrm>
            <a:off x="415600" y="4202967"/>
            <a:ext cx="113607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Char char="&gt;"/>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g3f6585972de_0_175"/>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g3f6585972de_0_179"/>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Blank">
  <p:cSld name="Right Blank">
    <p:spTree>
      <p:nvGrpSpPr>
        <p:cNvPr id="53" name="Shape 53"/>
        <p:cNvGrpSpPr/>
        <p:nvPr/>
      </p:nvGrpSpPr>
      <p:grpSpPr>
        <a:xfrm>
          <a:off x="0" y="0"/>
          <a:ext cx="0" cy="0"/>
          <a:chOff x="0" y="0"/>
          <a:chExt cx="0" cy="0"/>
        </a:xfrm>
      </p:grpSpPr>
      <p:sp>
        <p:nvSpPr>
          <p:cNvPr id="54" name="Google Shape;54;g3f6585972de_0_181"/>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g3f6585972de_0_181"/>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6" name="Google Shape;56;g3f6585972de_0_181"/>
          <p:cNvSpPr/>
          <p:nvPr/>
        </p:nvSpPr>
        <p:spPr>
          <a:xfrm rot="5400000">
            <a:off x="-698228" y="4447290"/>
            <a:ext cx="3108900" cy="17124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hotos">
  <p:cSld name="Team Photos">
    <p:spTree>
      <p:nvGrpSpPr>
        <p:cNvPr id="57" name="Shape 57"/>
        <p:cNvGrpSpPr/>
        <p:nvPr/>
      </p:nvGrpSpPr>
      <p:grpSpPr>
        <a:xfrm>
          <a:off x="0" y="0"/>
          <a:ext cx="0" cy="0"/>
          <a:chOff x="0" y="0"/>
          <a:chExt cx="0" cy="0"/>
        </a:xfrm>
      </p:grpSpPr>
      <p:sp>
        <p:nvSpPr>
          <p:cNvPr id="58" name="Google Shape;58;g3f6585972de_0_185"/>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59" name="Google Shape;59;g3f6585972de_0_185"/>
          <p:cNvSpPr txBox="1"/>
          <p:nvPr>
            <p:ph idx="2" type="title"/>
          </p:nvPr>
        </p:nvSpPr>
        <p:spPr>
          <a:xfrm>
            <a:off x="1026967"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0" name="Google Shape;60;g3f6585972de_0_185"/>
          <p:cNvSpPr txBox="1"/>
          <p:nvPr>
            <p:ph idx="3" type="title"/>
          </p:nvPr>
        </p:nvSpPr>
        <p:spPr>
          <a:xfrm>
            <a:off x="1026967"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1" name="Google Shape;61;g3f6585972de_0_185"/>
          <p:cNvSpPr/>
          <p:nvPr>
            <p:ph idx="4" type="pic"/>
          </p:nvPr>
        </p:nvSpPr>
        <p:spPr>
          <a:xfrm>
            <a:off x="1026967" y="1925600"/>
            <a:ext cx="1753200" cy="1753200"/>
          </a:xfrm>
          <a:prstGeom prst="ellipse">
            <a:avLst/>
          </a:prstGeom>
          <a:noFill/>
          <a:ln cap="flat" cmpd="sng" w="38100">
            <a:solidFill>
              <a:schemeClr val="accent1"/>
            </a:solidFill>
            <a:prstDash val="solid"/>
            <a:round/>
            <a:headEnd len="sm" w="sm" type="none"/>
            <a:tailEnd len="sm" w="sm" type="none"/>
          </a:ln>
        </p:spPr>
      </p:sp>
      <p:sp>
        <p:nvSpPr>
          <p:cNvPr id="62" name="Google Shape;62;g3f6585972de_0_185"/>
          <p:cNvSpPr txBox="1"/>
          <p:nvPr>
            <p:ph idx="5" type="title"/>
          </p:nvPr>
        </p:nvSpPr>
        <p:spPr>
          <a:xfrm>
            <a:off x="3763567"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3" name="Google Shape;63;g3f6585972de_0_185"/>
          <p:cNvSpPr txBox="1"/>
          <p:nvPr>
            <p:ph idx="6" type="title"/>
          </p:nvPr>
        </p:nvSpPr>
        <p:spPr>
          <a:xfrm>
            <a:off x="3763567"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4" name="Google Shape;64;g3f6585972de_0_185"/>
          <p:cNvSpPr/>
          <p:nvPr>
            <p:ph idx="7" type="pic"/>
          </p:nvPr>
        </p:nvSpPr>
        <p:spPr>
          <a:xfrm>
            <a:off x="3763567" y="1925600"/>
            <a:ext cx="1753200" cy="1753200"/>
          </a:xfrm>
          <a:prstGeom prst="ellipse">
            <a:avLst/>
          </a:prstGeom>
          <a:noFill/>
          <a:ln cap="flat" cmpd="sng" w="38100">
            <a:solidFill>
              <a:schemeClr val="accent1"/>
            </a:solidFill>
            <a:prstDash val="solid"/>
            <a:round/>
            <a:headEnd len="sm" w="sm" type="none"/>
            <a:tailEnd len="sm" w="sm" type="none"/>
          </a:ln>
        </p:spPr>
      </p:sp>
      <p:sp>
        <p:nvSpPr>
          <p:cNvPr id="65" name="Google Shape;65;g3f6585972de_0_185"/>
          <p:cNvSpPr txBox="1"/>
          <p:nvPr>
            <p:ph idx="8" type="title"/>
          </p:nvPr>
        </p:nvSpPr>
        <p:spPr>
          <a:xfrm>
            <a:off x="9236767"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6" name="Google Shape;66;g3f6585972de_0_185"/>
          <p:cNvSpPr txBox="1"/>
          <p:nvPr>
            <p:ph idx="9" type="title"/>
          </p:nvPr>
        </p:nvSpPr>
        <p:spPr>
          <a:xfrm>
            <a:off x="9236767"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7" name="Google Shape;67;g3f6585972de_0_185"/>
          <p:cNvSpPr/>
          <p:nvPr>
            <p:ph idx="13" type="pic"/>
          </p:nvPr>
        </p:nvSpPr>
        <p:spPr>
          <a:xfrm>
            <a:off x="9236767" y="1925600"/>
            <a:ext cx="1753200" cy="1753200"/>
          </a:xfrm>
          <a:prstGeom prst="ellipse">
            <a:avLst/>
          </a:prstGeom>
          <a:noFill/>
          <a:ln cap="flat" cmpd="sng" w="38100">
            <a:solidFill>
              <a:schemeClr val="accent1"/>
            </a:solidFill>
            <a:prstDash val="solid"/>
            <a:round/>
            <a:headEnd len="sm" w="sm" type="none"/>
            <a:tailEnd len="sm" w="sm" type="none"/>
          </a:ln>
        </p:spPr>
      </p:sp>
      <p:sp>
        <p:nvSpPr>
          <p:cNvPr id="68" name="Google Shape;68;g3f6585972de_0_185"/>
          <p:cNvSpPr txBox="1"/>
          <p:nvPr>
            <p:ph idx="14" type="title"/>
          </p:nvPr>
        </p:nvSpPr>
        <p:spPr>
          <a:xfrm>
            <a:off x="6500151" y="3820400"/>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1000"/>
              <a:buNone/>
              <a:defRPr sz="1333">
                <a:solidFill>
                  <a:schemeClr val="accent1"/>
                </a:solidFill>
                <a:latin typeface="Roboto Medium"/>
                <a:ea typeface="Roboto Medium"/>
                <a:cs typeface="Roboto Medium"/>
                <a:sym typeface="Roboto Medium"/>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69" name="Google Shape;69;g3f6585972de_0_185"/>
          <p:cNvSpPr txBox="1"/>
          <p:nvPr>
            <p:ph idx="15" type="title"/>
          </p:nvPr>
        </p:nvSpPr>
        <p:spPr>
          <a:xfrm>
            <a:off x="6500151" y="4087633"/>
            <a:ext cx="1753200" cy="350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000"/>
              <a:buFont typeface="Roboto Light"/>
              <a:buNone/>
              <a:defRPr b="0" i="1" sz="1333">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Medium"/>
                <a:ea typeface="Roboto Medium"/>
                <a:cs typeface="Roboto Medium"/>
                <a:sym typeface="Roboto Medium"/>
              </a:defRPr>
            </a:lvl2pPr>
            <a:lvl3pPr lvl="2" algn="l">
              <a:lnSpc>
                <a:spcPct val="100000"/>
              </a:lnSpc>
              <a:spcBef>
                <a:spcPts val="0"/>
              </a:spcBef>
              <a:spcAft>
                <a:spcPts val="0"/>
              </a:spcAft>
              <a:buSzPts val="2800"/>
              <a:buNone/>
              <a:defRPr>
                <a:latin typeface="Roboto Medium"/>
                <a:ea typeface="Roboto Medium"/>
                <a:cs typeface="Roboto Medium"/>
                <a:sym typeface="Roboto Medium"/>
              </a:defRPr>
            </a:lvl3pPr>
            <a:lvl4pPr lvl="3" algn="l">
              <a:lnSpc>
                <a:spcPct val="100000"/>
              </a:lnSpc>
              <a:spcBef>
                <a:spcPts val="0"/>
              </a:spcBef>
              <a:spcAft>
                <a:spcPts val="0"/>
              </a:spcAft>
              <a:buSzPts val="2800"/>
              <a:buNone/>
              <a:defRPr>
                <a:latin typeface="Roboto Medium"/>
                <a:ea typeface="Roboto Medium"/>
                <a:cs typeface="Roboto Medium"/>
                <a:sym typeface="Roboto Medium"/>
              </a:defRPr>
            </a:lvl4pPr>
            <a:lvl5pPr lvl="4" algn="l">
              <a:lnSpc>
                <a:spcPct val="100000"/>
              </a:lnSpc>
              <a:spcBef>
                <a:spcPts val="0"/>
              </a:spcBef>
              <a:spcAft>
                <a:spcPts val="0"/>
              </a:spcAft>
              <a:buSzPts val="2800"/>
              <a:buNone/>
              <a:defRPr>
                <a:latin typeface="Roboto Medium"/>
                <a:ea typeface="Roboto Medium"/>
                <a:cs typeface="Roboto Medium"/>
                <a:sym typeface="Roboto Medium"/>
              </a:defRPr>
            </a:lvl5pPr>
            <a:lvl6pPr lvl="5" algn="l">
              <a:lnSpc>
                <a:spcPct val="100000"/>
              </a:lnSpc>
              <a:spcBef>
                <a:spcPts val="0"/>
              </a:spcBef>
              <a:spcAft>
                <a:spcPts val="0"/>
              </a:spcAft>
              <a:buSzPts val="2800"/>
              <a:buNone/>
              <a:defRPr>
                <a:latin typeface="Roboto Medium"/>
                <a:ea typeface="Roboto Medium"/>
                <a:cs typeface="Roboto Medium"/>
                <a:sym typeface="Roboto Medium"/>
              </a:defRPr>
            </a:lvl6pPr>
            <a:lvl7pPr lvl="6" algn="l">
              <a:lnSpc>
                <a:spcPct val="100000"/>
              </a:lnSpc>
              <a:spcBef>
                <a:spcPts val="0"/>
              </a:spcBef>
              <a:spcAft>
                <a:spcPts val="0"/>
              </a:spcAft>
              <a:buSzPts val="2800"/>
              <a:buNone/>
              <a:defRPr>
                <a:latin typeface="Roboto Medium"/>
                <a:ea typeface="Roboto Medium"/>
                <a:cs typeface="Roboto Medium"/>
                <a:sym typeface="Roboto Medium"/>
              </a:defRPr>
            </a:lvl7pPr>
            <a:lvl8pPr lvl="7" algn="l">
              <a:lnSpc>
                <a:spcPct val="100000"/>
              </a:lnSpc>
              <a:spcBef>
                <a:spcPts val="0"/>
              </a:spcBef>
              <a:spcAft>
                <a:spcPts val="0"/>
              </a:spcAft>
              <a:buSzPts val="2800"/>
              <a:buNone/>
              <a:defRPr>
                <a:latin typeface="Roboto Medium"/>
                <a:ea typeface="Roboto Medium"/>
                <a:cs typeface="Roboto Medium"/>
                <a:sym typeface="Roboto Medium"/>
              </a:defRPr>
            </a:lvl8pPr>
            <a:lvl9pPr lvl="8" algn="l">
              <a:lnSpc>
                <a:spcPct val="100000"/>
              </a:lnSpc>
              <a:spcBef>
                <a:spcPts val="0"/>
              </a:spcBef>
              <a:spcAft>
                <a:spcPts val="0"/>
              </a:spcAft>
              <a:buSzPts val="2800"/>
              <a:buNone/>
              <a:defRPr>
                <a:latin typeface="Roboto Medium"/>
                <a:ea typeface="Roboto Medium"/>
                <a:cs typeface="Roboto Medium"/>
                <a:sym typeface="Roboto Medium"/>
              </a:defRPr>
            </a:lvl9pPr>
          </a:lstStyle>
          <a:p/>
        </p:txBody>
      </p:sp>
      <p:sp>
        <p:nvSpPr>
          <p:cNvPr id="70" name="Google Shape;70;g3f6585972de_0_185"/>
          <p:cNvSpPr/>
          <p:nvPr>
            <p:ph idx="16" type="pic"/>
          </p:nvPr>
        </p:nvSpPr>
        <p:spPr>
          <a:xfrm>
            <a:off x="6500167" y="1925600"/>
            <a:ext cx="1753200" cy="1753200"/>
          </a:xfrm>
          <a:prstGeom prst="ellipse">
            <a:avLst/>
          </a:prstGeom>
          <a:noFill/>
          <a:ln cap="flat" cmpd="sng" w="38100">
            <a:solidFill>
              <a:schemeClr val="accent1"/>
            </a:solidFill>
            <a:prstDash val="solid"/>
            <a:round/>
            <a:headEnd len="sm" w="sm" type="none"/>
            <a:tailEnd len="sm" w="sm" type="none"/>
          </a:ln>
        </p:spPr>
      </p:sp>
      <p:sp>
        <p:nvSpPr>
          <p:cNvPr id="71" name="Google Shape;71;g3f6585972de_0_185"/>
          <p:cNvSpPr txBox="1"/>
          <p:nvPr>
            <p:ph idx="1" type="body"/>
          </p:nvPr>
        </p:nvSpPr>
        <p:spPr>
          <a:xfrm>
            <a:off x="10269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g3f6585972de_0_185"/>
          <p:cNvSpPr txBox="1"/>
          <p:nvPr>
            <p:ph idx="17" type="body"/>
          </p:nvPr>
        </p:nvSpPr>
        <p:spPr>
          <a:xfrm>
            <a:off x="37635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3" name="Google Shape;73;g3f6585972de_0_185"/>
          <p:cNvSpPr txBox="1"/>
          <p:nvPr>
            <p:ph idx="18" type="body"/>
          </p:nvPr>
        </p:nvSpPr>
        <p:spPr>
          <a:xfrm>
            <a:off x="65001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4" name="Google Shape;74;g3f6585972de_0_185"/>
          <p:cNvSpPr txBox="1"/>
          <p:nvPr>
            <p:ph idx="19" type="body"/>
          </p:nvPr>
        </p:nvSpPr>
        <p:spPr>
          <a:xfrm>
            <a:off x="9236767" y="4437633"/>
            <a:ext cx="1753200" cy="1431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2000"/>
              </a:spcBef>
              <a:spcAft>
                <a:spcPts val="0"/>
              </a:spcAft>
              <a:buSzPts val="1800"/>
              <a:buFont typeface="Roboto"/>
              <a:buChar char="●"/>
              <a:defRPr>
                <a:latin typeface="Roboto"/>
                <a:ea typeface="Roboto"/>
                <a:cs typeface="Roboto"/>
                <a:sym typeface="Roboto"/>
              </a:defRPr>
            </a:lvl1pPr>
            <a:lvl2pPr indent="-317500" lvl="1" marL="914400" algn="ctr">
              <a:lnSpc>
                <a:spcPct val="115000"/>
              </a:lnSpc>
              <a:spcBef>
                <a:spcPts val="0"/>
              </a:spcBef>
              <a:spcAft>
                <a:spcPts val="0"/>
              </a:spcAft>
              <a:buSzPts val="1400"/>
              <a:buFont typeface="Roboto"/>
              <a:buChar char="○"/>
              <a:defRPr>
                <a:latin typeface="Roboto"/>
                <a:ea typeface="Roboto"/>
                <a:cs typeface="Roboto"/>
                <a:sym typeface="Roboto"/>
              </a:defRPr>
            </a:lvl2pPr>
            <a:lvl3pPr indent="-317500" lvl="2" marL="1371600" algn="ctr">
              <a:lnSpc>
                <a:spcPct val="115000"/>
              </a:lnSpc>
              <a:spcBef>
                <a:spcPts val="0"/>
              </a:spcBef>
              <a:spcAft>
                <a:spcPts val="0"/>
              </a:spcAft>
              <a:buSzPts val="1400"/>
              <a:buFont typeface="Roboto"/>
              <a:buChar char="■"/>
              <a:defRPr>
                <a:latin typeface="Roboto"/>
                <a:ea typeface="Roboto"/>
                <a:cs typeface="Roboto"/>
                <a:sym typeface="Roboto"/>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 name="Shape 5"/>
        <p:cNvGrpSpPr/>
        <p:nvPr/>
      </p:nvGrpSpPr>
      <p:grpSpPr>
        <a:xfrm>
          <a:off x="0" y="0"/>
          <a:ext cx="0" cy="0"/>
          <a:chOff x="0" y="0"/>
          <a:chExt cx="0" cy="0"/>
        </a:xfrm>
      </p:grpSpPr>
      <p:sp>
        <p:nvSpPr>
          <p:cNvPr id="6" name="Google Shape;6;g3f6585972de_0_133"/>
          <p:cNvSpPr txBox="1"/>
          <p:nvPr>
            <p:ph type="title"/>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Roboto"/>
              <a:buNone/>
              <a:defRPr b="1" i="0" sz="2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3f6585972de_0_133"/>
          <p:cNvSpPr txBox="1"/>
          <p:nvPr>
            <p:ph idx="1" type="body"/>
          </p:nvPr>
        </p:nvSpPr>
        <p:spPr>
          <a:xfrm>
            <a:off x="415600" y="1536633"/>
            <a:ext cx="11361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1500"/>
              </a:spcBef>
              <a:spcAft>
                <a:spcPts val="0"/>
              </a:spcAft>
              <a:buClr>
                <a:schemeClr val="accent1"/>
              </a:buClr>
              <a:buSzPts val="1800"/>
              <a:buFont typeface="Roboto Medium"/>
              <a:buChar char="●"/>
              <a:defRPr b="0" i="0" sz="1800" u="none" cap="none" strike="noStrike">
                <a:solidFill>
                  <a:schemeClr val="accent1"/>
                </a:solidFill>
                <a:latin typeface="Roboto Medium"/>
                <a:ea typeface="Roboto Medium"/>
                <a:cs typeface="Roboto Medium"/>
                <a:sym typeface="Roboto Medium"/>
              </a:defRPr>
            </a:lvl1pPr>
            <a:lvl2pPr indent="-317500" lvl="1" marL="914400" marR="0" rtl="0" algn="l">
              <a:lnSpc>
                <a:spcPct val="115000"/>
              </a:lnSpc>
              <a:spcBef>
                <a:spcPts val="0"/>
              </a:spcBef>
              <a:spcAft>
                <a:spcPts val="0"/>
              </a:spcAft>
              <a:buClr>
                <a:schemeClr val="accent3"/>
              </a:buClr>
              <a:buSzPts val="1400"/>
              <a:buFont typeface="Roboto Medium"/>
              <a:buChar char="○"/>
              <a:defRPr b="0" i="0" sz="1867" u="none" cap="none" strike="noStrike">
                <a:solidFill>
                  <a:schemeClr val="accent3"/>
                </a:solidFill>
                <a:latin typeface="Roboto Medium"/>
                <a:ea typeface="Roboto Medium"/>
                <a:cs typeface="Roboto Medium"/>
                <a:sym typeface="Roboto Medium"/>
              </a:defRPr>
            </a:lvl2pPr>
            <a:lvl3pPr indent="-317500" lvl="2" marL="1371600" marR="0" rtl="0" algn="l">
              <a:lnSpc>
                <a:spcPct val="115000"/>
              </a:lnSpc>
              <a:spcBef>
                <a:spcPts val="0"/>
              </a:spcBef>
              <a:spcAft>
                <a:spcPts val="0"/>
              </a:spcAft>
              <a:buClr>
                <a:schemeClr val="accent4"/>
              </a:buClr>
              <a:buSzPts val="1400"/>
              <a:buFont typeface="Roboto Light"/>
              <a:buChar char="■"/>
              <a:defRPr b="0" i="0" sz="1867" u="none" cap="none" strike="noStrike">
                <a:solidFill>
                  <a:schemeClr val="accent4"/>
                </a:solidFill>
                <a:latin typeface="Roboto Light"/>
                <a:ea typeface="Roboto Light"/>
                <a:cs typeface="Roboto Light"/>
                <a:sym typeface="Roboto Light"/>
              </a:defRPr>
            </a:lvl3pPr>
            <a:lvl4pPr indent="-317500" lvl="3" marL="18288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867" u="none" cap="none" strike="noStrike">
                <a:solidFill>
                  <a:schemeClr val="dk2"/>
                </a:solidFill>
                <a:latin typeface="Roboto"/>
                <a:ea typeface="Roboto"/>
                <a:cs typeface="Roboto"/>
                <a:sym typeface="Roboto"/>
              </a:defRPr>
            </a:lvl9pPr>
          </a:lstStyle>
          <a:p/>
        </p:txBody>
      </p:sp>
      <p:sp>
        <p:nvSpPr>
          <p:cNvPr id="8" name="Google Shape;8;g3f6585972de_0_133"/>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33"/>
              <a:buFont typeface="Arial"/>
              <a:buNone/>
              <a:defRPr b="0" i="0" sz="1333"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3f6585972de_0_133"/>
          <p:cNvPicPr preferRelativeResize="0"/>
          <p:nvPr/>
        </p:nvPicPr>
        <p:blipFill rotWithShape="1">
          <a:blip r:embed="rId1">
            <a:alphaModFix/>
          </a:blip>
          <a:srcRect b="0" l="0" r="0" t="0"/>
          <a:stretch/>
        </p:blipFill>
        <p:spPr>
          <a:xfrm>
            <a:off x="9167041" y="94400"/>
            <a:ext cx="2946593" cy="763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missing.csail.mit.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f62a09efe0_0_77"/>
          <p:cNvSpPr txBox="1"/>
          <p:nvPr>
            <p:ph type="ctrTitle"/>
          </p:nvPr>
        </p:nvSpPr>
        <p:spPr>
          <a:xfrm>
            <a:off x="415600" y="992767"/>
            <a:ext cx="7850100" cy="2264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Font typeface="Roboto Serif SemiBold"/>
              <a:buNone/>
            </a:pPr>
            <a:r>
              <a:rPr lang="en-GB"/>
              <a:t>Code </a:t>
            </a:r>
            <a:r>
              <a:rPr lang="en-GB"/>
              <a:t>Packaging</a:t>
            </a:r>
            <a:endParaRPr/>
          </a:p>
        </p:txBody>
      </p:sp>
      <p:sp>
        <p:nvSpPr>
          <p:cNvPr id="80" name="Google Shape;80;g3f62a09efe0_0_77"/>
          <p:cNvSpPr txBox="1"/>
          <p:nvPr>
            <p:ph idx="1" type="subTitle"/>
          </p:nvPr>
        </p:nvSpPr>
        <p:spPr>
          <a:xfrm>
            <a:off x="415599" y="3429000"/>
            <a:ext cx="7850100" cy="1884300"/>
          </a:xfrm>
          <a:prstGeom prst="rect">
            <a:avLst/>
          </a:prstGeom>
          <a:noFill/>
          <a:ln>
            <a:noFill/>
          </a:ln>
        </p:spPr>
        <p:txBody>
          <a:bodyPr anchorCtr="0" anchor="t" bIns="91425" lIns="91425" spcFirstLastPara="1" rIns="91425" wrap="square" tIns="91425">
            <a:normAutofit/>
          </a:bodyPr>
          <a:lstStyle/>
          <a:p>
            <a:pPr indent="-342900" lvl="0" marL="457200" rtl="0" algn="l">
              <a:lnSpc>
                <a:spcPct val="100000"/>
              </a:lnSpc>
              <a:spcBef>
                <a:spcPts val="2000"/>
              </a:spcBef>
              <a:spcAft>
                <a:spcPts val="0"/>
              </a:spcAft>
              <a:buClr>
                <a:schemeClr val="lt1"/>
              </a:buClr>
              <a:buSzPts val="2800"/>
              <a:buNone/>
            </a:pPr>
            <a:r>
              <a:rPr lang="en-GB"/>
              <a:t>Create the right environment for your code </a:t>
            </a:r>
            <a:endParaRPr/>
          </a:p>
        </p:txBody>
      </p:sp>
      <p:sp>
        <p:nvSpPr>
          <p:cNvPr id="81" name="Google Shape;81;g3f62a09efe0_0_77"/>
          <p:cNvSpPr txBox="1"/>
          <p:nvPr>
            <p:ph idx="1" type="subTitle"/>
          </p:nvPr>
        </p:nvSpPr>
        <p:spPr>
          <a:xfrm>
            <a:off x="0" y="6322975"/>
            <a:ext cx="5958300" cy="534900"/>
          </a:xfrm>
          <a:prstGeom prst="rect">
            <a:avLst/>
          </a:prstGeom>
          <a:noFill/>
          <a:ln>
            <a:noFill/>
          </a:ln>
        </p:spPr>
        <p:txBody>
          <a:bodyPr anchorCtr="0" anchor="t" bIns="91425" lIns="91425" spcFirstLastPara="1" rIns="91425" wrap="square" tIns="91425">
            <a:normAutofit fontScale="47500"/>
          </a:bodyPr>
          <a:lstStyle/>
          <a:p>
            <a:pPr indent="-342900" lvl="0" marL="457200" rtl="0" algn="l">
              <a:lnSpc>
                <a:spcPct val="100000"/>
              </a:lnSpc>
              <a:spcBef>
                <a:spcPts val="2000"/>
              </a:spcBef>
              <a:spcAft>
                <a:spcPts val="0"/>
              </a:spcAft>
              <a:buClr>
                <a:schemeClr val="lt1"/>
              </a:buClr>
              <a:buSzPct val="74344"/>
              <a:buNone/>
            </a:pPr>
            <a:r>
              <a:rPr lang="en-GB"/>
              <a:t>*Part of materials adapted from </a:t>
            </a:r>
            <a:r>
              <a:rPr lang="en-GB" u="sng">
                <a:solidFill>
                  <a:schemeClr val="hlink"/>
                </a:solidFill>
                <a:hlinkClick r:id="rId3"/>
              </a:rPr>
              <a:t>missing-semester</a:t>
            </a:r>
            <a:r>
              <a:rPr lang="en-GB"/>
              <a:t>, MIT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Dependencies</a:t>
            </a:r>
            <a:endParaRPr b="1" i="0" sz="2800" u="none" cap="none" strike="noStrike">
              <a:solidFill>
                <a:srgbClr val="FFFFFF"/>
              </a:solidFill>
              <a:latin typeface="Roboto"/>
              <a:ea typeface="Roboto"/>
              <a:cs typeface="Roboto"/>
              <a:sym typeface="Roboto"/>
            </a:endParaRPr>
          </a:p>
        </p:txBody>
      </p:sp>
      <p:sp>
        <p:nvSpPr>
          <p:cNvPr id="87" name="Google Shape;87;p3"/>
          <p:cNvSpPr txBox="1"/>
          <p:nvPr/>
        </p:nvSpPr>
        <p:spPr>
          <a:xfrm>
            <a:off x="415599" y="1536633"/>
            <a:ext cx="7837200" cy="4555200"/>
          </a:xfrm>
          <a:prstGeom prst="rect">
            <a:avLst/>
          </a:prstGeom>
          <a:noFill/>
          <a:ln>
            <a:noFill/>
          </a:ln>
        </p:spPr>
        <p:txBody>
          <a:bodyPr anchorCtr="0" anchor="t" bIns="91425" lIns="91425" spcFirstLastPara="1" rIns="91425" wrap="square" tIns="91425">
            <a:normAutofit/>
          </a:bodyPr>
          <a:lstStyle/>
          <a:p>
            <a:pPr indent="-330200" lvl="0" marL="457200" marR="0" rtl="0" algn="l">
              <a:lnSpc>
                <a:spcPct val="115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For most cases, our programs/applications/code </a:t>
            </a:r>
            <a:r>
              <a:rPr lang="en-GB" sz="2400">
                <a:solidFill>
                  <a:schemeClr val="accent4"/>
                </a:solidFill>
                <a:latin typeface="Roboto Medium"/>
                <a:ea typeface="Roboto Medium"/>
                <a:cs typeface="Roboto Medium"/>
                <a:sym typeface="Roboto Medium"/>
              </a:rPr>
              <a:t>depends</a:t>
            </a:r>
            <a:r>
              <a:rPr lang="en-GB" sz="2400">
                <a:solidFill>
                  <a:srgbClr val="D5D5D5"/>
                </a:solidFill>
                <a:latin typeface="Roboto Medium"/>
                <a:ea typeface="Roboto Medium"/>
                <a:cs typeface="Roboto Medium"/>
                <a:sym typeface="Roboto Medium"/>
              </a:rPr>
              <a:t> on some external package that are not part of the native runtime </a:t>
            </a:r>
            <a:endParaRPr sz="2400">
              <a:solidFill>
                <a:srgbClr val="D5D5D5"/>
              </a:solidFill>
              <a:latin typeface="Roboto Medium"/>
              <a:ea typeface="Roboto Medium"/>
              <a:cs typeface="Roboto Medium"/>
              <a:sym typeface="Roboto Medium"/>
            </a:endParaRPr>
          </a:p>
          <a:p>
            <a:pPr indent="-330200" lvl="0" marL="457200" marR="0" rtl="0" algn="l">
              <a:lnSpc>
                <a:spcPct val="115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So we need to install them in our local filesystem, but such a library may also depends on other libraries, which creates a </a:t>
            </a:r>
            <a:r>
              <a:rPr lang="en-GB" sz="2400">
                <a:solidFill>
                  <a:schemeClr val="accent4"/>
                </a:solidFill>
                <a:latin typeface="Roboto Medium"/>
                <a:ea typeface="Roboto Medium"/>
                <a:cs typeface="Roboto Medium"/>
                <a:sym typeface="Roboto Medium"/>
              </a:rPr>
              <a:t>chain of dependencies </a:t>
            </a:r>
            <a:endParaRPr sz="2400">
              <a:solidFill>
                <a:schemeClr val="accent4"/>
              </a:solidFill>
              <a:latin typeface="Roboto Medium"/>
              <a:ea typeface="Roboto Medium"/>
              <a:cs typeface="Roboto Medium"/>
              <a:sym typeface="Roboto Medium"/>
            </a:endParaRPr>
          </a:p>
          <a:p>
            <a:pPr indent="-330200" lvl="0" marL="457200" marR="0" rtl="0" algn="l">
              <a:lnSpc>
                <a:spcPct val="115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And there are many versions of the same package, which may cause </a:t>
            </a:r>
            <a:r>
              <a:rPr lang="en-GB" sz="2400">
                <a:solidFill>
                  <a:srgbClr val="FFC83D"/>
                </a:solidFill>
                <a:latin typeface="Roboto Medium"/>
                <a:ea typeface="Roboto Medium"/>
                <a:cs typeface="Roboto Medium"/>
                <a:sym typeface="Roboto Medium"/>
              </a:rPr>
              <a:t>dependency conflicts</a:t>
            </a:r>
            <a:endParaRPr sz="2400">
              <a:solidFill>
                <a:srgbClr val="FFC83D"/>
              </a:solidFill>
              <a:latin typeface="Roboto Medium"/>
              <a:ea typeface="Roboto Medium"/>
              <a:cs typeface="Roboto Medium"/>
              <a:sym typeface="Roboto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f72392adc6_1_7"/>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Tools</a:t>
            </a:r>
            <a:endParaRPr b="1" i="0" sz="2800" u="none" cap="none" strike="noStrike">
              <a:solidFill>
                <a:srgbClr val="FFFFFF"/>
              </a:solidFill>
              <a:latin typeface="Roboto"/>
              <a:ea typeface="Roboto"/>
              <a:cs typeface="Roboto"/>
              <a:sym typeface="Roboto"/>
            </a:endParaRPr>
          </a:p>
        </p:txBody>
      </p:sp>
      <p:sp>
        <p:nvSpPr>
          <p:cNvPr id="93" name="Google Shape;93;g3f72392adc6_1_7"/>
          <p:cNvSpPr txBox="1"/>
          <p:nvPr/>
        </p:nvSpPr>
        <p:spPr>
          <a:xfrm>
            <a:off x="415599" y="1536633"/>
            <a:ext cx="7837200" cy="4555200"/>
          </a:xfrm>
          <a:prstGeom prst="rect">
            <a:avLst/>
          </a:prstGeom>
          <a:noFill/>
          <a:ln>
            <a:noFill/>
          </a:ln>
        </p:spPr>
        <p:txBody>
          <a:bodyPr anchorCtr="0" anchor="t" bIns="91425" lIns="91425" spcFirstLastPara="1" rIns="91425" wrap="square" tIns="91425">
            <a:normAutofit/>
          </a:bodyPr>
          <a:lstStyle/>
          <a:p>
            <a:pPr indent="-330200" lvl="0" marL="457200" marR="0" rtl="0" algn="l">
              <a:lnSpc>
                <a:spcPct val="115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In this session we are going focus on Python programming language</a:t>
            </a:r>
            <a:endParaRPr sz="2400">
              <a:solidFill>
                <a:srgbClr val="D5D5D5"/>
              </a:solidFill>
              <a:latin typeface="Roboto Medium"/>
              <a:ea typeface="Roboto Medium"/>
              <a:cs typeface="Roboto Medium"/>
              <a:sym typeface="Roboto Medium"/>
            </a:endParaRPr>
          </a:p>
          <a:p>
            <a:pPr indent="-330200" lvl="0" marL="457200" marR="0" rtl="0" algn="l">
              <a:lnSpc>
                <a:spcPct val="115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In python, the installation tool is </a:t>
            </a:r>
            <a:r>
              <a:rPr lang="en-GB" sz="2400">
                <a:solidFill>
                  <a:srgbClr val="D5D5D5"/>
                </a:solidFill>
                <a:latin typeface="Roboto Medium"/>
                <a:ea typeface="Roboto Medium"/>
                <a:cs typeface="Roboto Medium"/>
                <a:sym typeface="Roboto Medium"/>
              </a:rPr>
              <a:t>denied</a:t>
            </a:r>
            <a:r>
              <a:rPr lang="en-GB" sz="2400">
                <a:solidFill>
                  <a:srgbClr val="D5D5D5"/>
                </a:solidFill>
                <a:latin typeface="Roboto Medium"/>
                <a:ea typeface="Roboto Medium"/>
                <a:cs typeface="Roboto Medium"/>
                <a:sym typeface="Roboto Medium"/>
              </a:rPr>
              <a:t> by </a:t>
            </a:r>
            <a:r>
              <a:rPr lang="en-GB" sz="2400">
                <a:solidFill>
                  <a:srgbClr val="D5D5D5"/>
                </a:solidFill>
                <a:latin typeface="Roboto Medium"/>
                <a:ea typeface="Roboto Medium"/>
                <a:cs typeface="Roboto Medium"/>
                <a:sym typeface="Roboto Medium"/>
              </a:rPr>
              <a:t>several</a:t>
            </a:r>
            <a:r>
              <a:rPr lang="en-GB" sz="2400">
                <a:solidFill>
                  <a:srgbClr val="D5D5D5"/>
                </a:solidFill>
                <a:latin typeface="Roboto Medium"/>
                <a:ea typeface="Roboto Medium"/>
                <a:cs typeface="Roboto Medium"/>
                <a:sym typeface="Roboto Medium"/>
              </a:rPr>
              <a:t> </a:t>
            </a:r>
            <a:r>
              <a:rPr lang="en-GB" sz="2400">
                <a:solidFill>
                  <a:srgbClr val="D5D5D5"/>
                </a:solidFill>
                <a:latin typeface="Roboto Medium"/>
                <a:ea typeface="Roboto Medium"/>
                <a:cs typeface="Roboto Medium"/>
                <a:sym typeface="Roboto Medium"/>
              </a:rPr>
              <a:t>specifications</a:t>
            </a:r>
            <a:r>
              <a:rPr lang="en-GB" sz="2400">
                <a:solidFill>
                  <a:srgbClr val="D5D5D5"/>
                </a:solidFill>
                <a:latin typeface="Roboto Medium"/>
                <a:ea typeface="Roboto Medium"/>
                <a:cs typeface="Roboto Medium"/>
                <a:sym typeface="Roboto Medium"/>
              </a:rPr>
              <a:t>, meaning that there are multiple tools for us to use that follows the same specifications</a:t>
            </a:r>
            <a:endParaRPr sz="2400">
              <a:solidFill>
                <a:srgbClr val="D5D5D5"/>
              </a:solidFill>
              <a:latin typeface="Roboto Medium"/>
              <a:ea typeface="Roboto Medium"/>
              <a:cs typeface="Roboto Medium"/>
              <a:sym typeface="Roboto Medium"/>
            </a:endParaRPr>
          </a:p>
          <a:p>
            <a:pPr indent="-330200" lvl="0" marL="457200" marR="0" rtl="0" algn="l">
              <a:lnSpc>
                <a:spcPct val="115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The classic one is </a:t>
            </a:r>
            <a:r>
              <a:rPr lang="en-GB" sz="2400">
                <a:solidFill>
                  <a:schemeClr val="accent4"/>
                </a:solidFill>
                <a:latin typeface="Roboto Medium"/>
                <a:ea typeface="Roboto Medium"/>
                <a:cs typeface="Roboto Medium"/>
                <a:sym typeface="Roboto Medium"/>
              </a:rPr>
              <a:t>pip</a:t>
            </a:r>
            <a:r>
              <a:rPr lang="en-GB" sz="2400">
                <a:solidFill>
                  <a:srgbClr val="D5D5D5"/>
                </a:solidFill>
                <a:latin typeface="Roboto Medium"/>
                <a:ea typeface="Roboto Medium"/>
                <a:cs typeface="Roboto Medium"/>
                <a:sym typeface="Roboto Medium"/>
              </a:rPr>
              <a:t>, and developers have created more optimised tool like </a:t>
            </a:r>
            <a:r>
              <a:rPr lang="en-GB" sz="2400">
                <a:solidFill>
                  <a:schemeClr val="accent4"/>
                </a:solidFill>
                <a:latin typeface="Roboto Medium"/>
                <a:ea typeface="Roboto Medium"/>
                <a:cs typeface="Roboto Medium"/>
                <a:sym typeface="Roboto Medium"/>
              </a:rPr>
              <a:t>uv</a:t>
            </a:r>
            <a:endParaRPr sz="2400">
              <a:solidFill>
                <a:schemeClr val="accent4"/>
              </a:solidFill>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Virtual environments (venvs)</a:t>
            </a:r>
            <a:endParaRPr b="1" i="0" sz="2800" u="none" cap="none" strike="noStrike">
              <a:solidFill>
                <a:srgbClr val="FFFFFF"/>
              </a:solidFill>
              <a:latin typeface="Roboto"/>
              <a:ea typeface="Roboto"/>
              <a:cs typeface="Roboto"/>
              <a:sym typeface="Roboto"/>
            </a:endParaRPr>
          </a:p>
        </p:txBody>
      </p:sp>
      <p:sp>
        <p:nvSpPr>
          <p:cNvPr id="99" name="Google Shape;99;p4"/>
          <p:cNvSpPr txBox="1"/>
          <p:nvPr/>
        </p:nvSpPr>
        <p:spPr>
          <a:xfrm>
            <a:off x="415600" y="1536624"/>
            <a:ext cx="7837200" cy="5062800"/>
          </a:xfrm>
          <a:prstGeom prst="rect">
            <a:avLst/>
          </a:prstGeom>
          <a:noFill/>
          <a:ln>
            <a:noFill/>
          </a:ln>
        </p:spPr>
        <p:txBody>
          <a:bodyPr anchorCtr="0" anchor="t" bIns="91425" lIns="91425" spcFirstLastPara="1" rIns="91425" wrap="square" tIns="91425">
            <a:norm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To avoid installing too many packages and causing dependency conflicts, the best practice is to create a virtual environment for each program, and install packages inside those virtual environments</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You can think of virtual environments as a fresh copy of the runtime, each with its own set of packages</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Virtual environments isolates the installed </a:t>
            </a:r>
            <a:r>
              <a:rPr lang="en-GB" sz="2400">
                <a:solidFill>
                  <a:srgbClr val="D5D5D5"/>
                </a:solidFill>
                <a:latin typeface="Roboto Medium"/>
                <a:ea typeface="Roboto Medium"/>
                <a:cs typeface="Roboto Medium"/>
                <a:sym typeface="Roboto Medium"/>
              </a:rPr>
              <a:t>dependencies from the global dependencies (and other virtual environments)</a:t>
            </a:r>
            <a:endParaRPr sz="2400">
              <a:solidFill>
                <a:srgbClr val="D5D5D5"/>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f72392adc6_0_1"/>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Creating venvs</a:t>
            </a:r>
            <a:endParaRPr b="1" sz="2800">
              <a:solidFill>
                <a:srgbClr val="FFFFFF"/>
              </a:solidFill>
              <a:latin typeface="Roboto"/>
              <a:ea typeface="Roboto"/>
              <a:cs typeface="Roboto"/>
              <a:sym typeface="Roboto"/>
            </a:endParaRPr>
          </a:p>
        </p:txBody>
      </p:sp>
      <p:sp>
        <p:nvSpPr>
          <p:cNvPr id="105" name="Google Shape;105;g3f72392adc6_0_1"/>
          <p:cNvSpPr txBox="1"/>
          <p:nvPr/>
        </p:nvSpPr>
        <p:spPr>
          <a:xfrm>
            <a:off x="415600" y="1537200"/>
            <a:ext cx="113607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First, to check which python runtime you are using, type: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which python </a:t>
            </a:r>
            <a:endParaRPr i="1" sz="2400">
              <a:solidFill>
                <a:schemeClr val="accent4"/>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This will print out the path to the current runtime you are using</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Then, to create a venv:</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rgbClr val="FFC83D"/>
                </a:solidFill>
                <a:latin typeface="Roboto Medium"/>
                <a:ea typeface="Roboto Medium"/>
                <a:cs typeface="Roboto Medium"/>
                <a:sym typeface="Roboto Medium"/>
              </a:rPr>
              <a:t>p</a:t>
            </a:r>
            <a:r>
              <a:rPr i="1" lang="en-GB" sz="2400">
                <a:solidFill>
                  <a:srgbClr val="FFC83D"/>
                </a:solidFill>
                <a:latin typeface="Roboto Medium"/>
                <a:ea typeface="Roboto Medium"/>
                <a:cs typeface="Roboto Medium"/>
                <a:sym typeface="Roboto Medium"/>
              </a:rPr>
              <a:t>ython -m venv &lt;name&gt;</a:t>
            </a:r>
            <a:endParaRPr i="1" sz="2400">
              <a:solidFill>
                <a:srgbClr val="FFC83D"/>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Before you install packages, you will need to activate your venv, use: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s</a:t>
            </a:r>
            <a:r>
              <a:rPr i="1" lang="en-GB" sz="2400">
                <a:solidFill>
                  <a:schemeClr val="accent4"/>
                </a:solidFill>
                <a:latin typeface="Roboto Medium"/>
                <a:ea typeface="Roboto Medium"/>
                <a:cs typeface="Roboto Medium"/>
                <a:sym typeface="Roboto Medium"/>
              </a:rPr>
              <a:t>ource &lt;path_to_your_venv&gt;/&lt;name&gt;/bin/activate</a:t>
            </a:r>
            <a:endParaRPr i="1" sz="2400">
              <a:solidFill>
                <a:schemeClr val="accent4"/>
              </a:solidFill>
              <a:latin typeface="Roboto Medium"/>
              <a:ea typeface="Roboto Medium"/>
              <a:cs typeface="Roboto Medium"/>
              <a:sym typeface="Robo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f72392adc6_1_2"/>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Creating venvs</a:t>
            </a:r>
            <a:endParaRPr b="1" sz="2800">
              <a:solidFill>
                <a:srgbClr val="FFFFFF"/>
              </a:solidFill>
              <a:latin typeface="Roboto"/>
              <a:ea typeface="Roboto"/>
              <a:cs typeface="Roboto"/>
              <a:sym typeface="Roboto"/>
            </a:endParaRPr>
          </a:p>
        </p:txBody>
      </p:sp>
      <p:sp>
        <p:nvSpPr>
          <p:cNvPr id="111" name="Google Shape;111;g3f72392adc6_1_2"/>
          <p:cNvSpPr txBox="1"/>
          <p:nvPr/>
        </p:nvSpPr>
        <p:spPr>
          <a:xfrm>
            <a:off x="415600" y="1537200"/>
            <a:ext cx="113607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After you created and activated your venv, you can download packages by</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p</a:t>
            </a:r>
            <a:r>
              <a:rPr i="1" lang="en-GB" sz="2400">
                <a:solidFill>
                  <a:schemeClr val="accent4"/>
                </a:solidFill>
                <a:latin typeface="Roboto Medium"/>
                <a:ea typeface="Roboto Medium"/>
                <a:cs typeface="Roboto Medium"/>
                <a:sym typeface="Roboto Medium"/>
              </a:rPr>
              <a:t>ip install &lt;pakcage_name&gt; </a:t>
            </a:r>
            <a:r>
              <a:rPr lang="en-GB" sz="2400">
                <a:solidFill>
                  <a:schemeClr val="lt1"/>
                </a:solidFill>
                <a:latin typeface="Roboto Medium"/>
                <a:ea typeface="Roboto Medium"/>
                <a:cs typeface="Roboto Medium"/>
                <a:sym typeface="Roboto Medium"/>
              </a:rPr>
              <a:t>or</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uv pip install &lt;package_name</a:t>
            </a:r>
            <a:r>
              <a:rPr i="1" lang="en-GB" sz="2400">
                <a:solidFill>
                  <a:schemeClr val="accent4"/>
                </a:solidFill>
                <a:latin typeface="Roboto Medium"/>
                <a:ea typeface="Roboto Medium"/>
                <a:cs typeface="Roboto Medium"/>
                <a:sym typeface="Roboto Medium"/>
              </a:rPr>
              <a:t>&gt;</a:t>
            </a:r>
            <a:r>
              <a:rPr lang="en-GB" sz="2400">
                <a:solidFill>
                  <a:schemeClr val="lt1"/>
                </a:solidFill>
                <a:latin typeface="Roboto Medium"/>
                <a:ea typeface="Roboto Medium"/>
                <a:cs typeface="Roboto Medium"/>
                <a:sym typeface="Roboto Medium"/>
              </a:rPr>
              <a:t> is faster</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To deactivate your venv, simply type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rgbClr val="FFC83D"/>
                </a:solidFill>
                <a:latin typeface="Roboto Medium"/>
                <a:ea typeface="Roboto Medium"/>
                <a:cs typeface="Roboto Medium"/>
                <a:sym typeface="Roboto Medium"/>
              </a:rPr>
              <a:t>d</a:t>
            </a:r>
            <a:r>
              <a:rPr i="1" lang="en-GB" sz="2400">
                <a:solidFill>
                  <a:srgbClr val="FFC83D"/>
                </a:solidFill>
                <a:latin typeface="Roboto Medium"/>
                <a:ea typeface="Roboto Medium"/>
                <a:cs typeface="Roboto Medium"/>
                <a:sym typeface="Roboto Medium"/>
              </a:rPr>
              <a:t>eactivate </a:t>
            </a:r>
            <a:endParaRPr i="1" sz="2400">
              <a:solidFill>
                <a:srgbClr val="FFC83D"/>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You can also set a specific python version when you create the venv (requires the corresponding python on your computer)</a:t>
            </a:r>
            <a:endParaRPr sz="2400">
              <a:solidFill>
                <a:schemeClr val="lt1"/>
              </a:solidFill>
              <a:latin typeface="Roboto Medium"/>
              <a:ea typeface="Roboto Medium"/>
              <a:cs typeface="Roboto Medium"/>
              <a:sym typeface="Roboto Medium"/>
            </a:endParaRPr>
          </a:p>
          <a:p>
            <a:pPr indent="-317500" lvl="1" marL="914400" rtl="0" algn="l">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python3.11 -m venv &lt;name&gt;</a:t>
            </a:r>
            <a:endParaRPr i="1" sz="2400">
              <a:solidFill>
                <a:schemeClr val="accent4"/>
              </a:solidFill>
              <a:latin typeface="Roboto Medium"/>
              <a:ea typeface="Roboto Medium"/>
              <a:cs typeface="Roboto Medium"/>
              <a:sym typeface="Roboto Medium"/>
            </a:endParaRPr>
          </a:p>
          <a:p>
            <a:pPr indent="0" lvl="0" marL="0" marR="0" rtl="0" algn="l">
              <a:lnSpc>
                <a:spcPct val="100000"/>
              </a:lnSpc>
              <a:spcBef>
                <a:spcPts val="2000"/>
              </a:spcBef>
              <a:spcAft>
                <a:spcPts val="0"/>
              </a:spcAft>
              <a:buNone/>
            </a:pPr>
            <a:r>
              <a:t/>
            </a:r>
            <a:endParaRPr sz="2400">
              <a:solidFill>
                <a:schemeClr val="accent4"/>
              </a:solidFill>
              <a:latin typeface="Roboto Medium"/>
              <a:ea typeface="Roboto Medium"/>
              <a:cs typeface="Roboto Medium"/>
              <a:sym typeface="Robo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f62a09efe0_0_203"/>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r</a:t>
            </a:r>
            <a:r>
              <a:rPr b="1" lang="en-GB" sz="2800">
                <a:solidFill>
                  <a:schemeClr val="dk1"/>
                </a:solidFill>
                <a:latin typeface="Roboto"/>
                <a:ea typeface="Roboto"/>
                <a:cs typeface="Roboto"/>
                <a:sym typeface="Roboto"/>
              </a:rPr>
              <a:t>equirements.txt </a:t>
            </a:r>
            <a:endParaRPr b="1" sz="2800">
              <a:solidFill>
                <a:srgbClr val="FFFFFF"/>
              </a:solidFill>
              <a:latin typeface="Roboto"/>
              <a:ea typeface="Roboto"/>
              <a:cs typeface="Roboto"/>
              <a:sym typeface="Roboto"/>
            </a:endParaRPr>
          </a:p>
        </p:txBody>
      </p:sp>
      <p:sp>
        <p:nvSpPr>
          <p:cNvPr id="117" name="Google Shape;117;g3f62a09efe0_0_203"/>
          <p:cNvSpPr txBox="1"/>
          <p:nvPr/>
        </p:nvSpPr>
        <p:spPr>
          <a:xfrm>
            <a:off x="415600" y="1536624"/>
            <a:ext cx="7837200" cy="5062800"/>
          </a:xfrm>
          <a:prstGeom prst="rect">
            <a:avLst/>
          </a:prstGeom>
          <a:noFill/>
          <a:ln>
            <a:noFill/>
          </a:ln>
        </p:spPr>
        <p:txBody>
          <a:bodyPr anchorCtr="0" anchor="t" bIns="91425" lIns="91425" spcFirstLastPara="1" rIns="91425" wrap="square" tIns="91425">
            <a:normAutofit/>
          </a:bodyPr>
          <a:lstStyle/>
          <a:p>
            <a:pPr indent="-330200" lvl="0" marL="457200" rtl="0" algn="l">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Sometimes we might have installed too many packages into a venv, and it might be hard to track all of them</a:t>
            </a:r>
            <a:endParaRPr sz="2400">
              <a:solidFill>
                <a:schemeClr val="lt1"/>
              </a:solidFill>
              <a:latin typeface="Roboto Medium"/>
              <a:ea typeface="Roboto Medium"/>
              <a:cs typeface="Roboto Medium"/>
              <a:sym typeface="Roboto Medium"/>
            </a:endParaRPr>
          </a:p>
          <a:p>
            <a:pPr indent="-330200" lvl="0" marL="457200" rtl="0" algn="l">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So this becomes a problem when we want to run the same piece of code on another device, we will have to create the venv again</a:t>
            </a:r>
            <a:endParaRPr sz="2400">
              <a:solidFill>
                <a:schemeClr val="lt1"/>
              </a:solidFill>
              <a:latin typeface="Roboto Medium"/>
              <a:ea typeface="Roboto Medium"/>
              <a:cs typeface="Roboto Medium"/>
              <a:sym typeface="Roboto Medium"/>
            </a:endParaRPr>
          </a:p>
          <a:p>
            <a:pPr indent="-330200" lvl="0" marL="457200" rtl="0" algn="l">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 common solution is to include a requirement.txt in our repo, and then install packages from that file</a:t>
            </a:r>
            <a:endParaRPr sz="2400">
              <a:solidFill>
                <a:srgbClr val="D5D5D5"/>
              </a:solidFill>
              <a:latin typeface="Roboto Medium"/>
              <a:ea typeface="Roboto Medium"/>
              <a:cs typeface="Roboto Medium"/>
              <a:sym typeface="Robo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f72392adc6_0_29"/>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r</a:t>
            </a:r>
            <a:r>
              <a:rPr b="1" lang="en-GB" sz="2800">
                <a:solidFill>
                  <a:schemeClr val="dk1"/>
                </a:solidFill>
                <a:latin typeface="Roboto"/>
                <a:ea typeface="Roboto"/>
                <a:cs typeface="Roboto"/>
                <a:sym typeface="Roboto"/>
              </a:rPr>
              <a:t>equirements.txt </a:t>
            </a:r>
            <a:endParaRPr b="1" sz="2800">
              <a:solidFill>
                <a:srgbClr val="FFFFFF"/>
              </a:solidFill>
              <a:latin typeface="Roboto"/>
              <a:ea typeface="Roboto"/>
              <a:cs typeface="Roboto"/>
              <a:sym typeface="Roboto"/>
            </a:endParaRPr>
          </a:p>
        </p:txBody>
      </p:sp>
      <p:sp>
        <p:nvSpPr>
          <p:cNvPr id="123" name="Google Shape;123;g3f72392adc6_0_29"/>
          <p:cNvSpPr txBox="1"/>
          <p:nvPr/>
        </p:nvSpPr>
        <p:spPr>
          <a:xfrm>
            <a:off x="415600" y="1537200"/>
            <a:ext cx="75267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As shown, this is a really simple file that allows you to define all packages needed, together with the versions</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Then,</a:t>
            </a:r>
            <a:r>
              <a:rPr lang="en-GB" sz="2400">
                <a:solidFill>
                  <a:schemeClr val="lt1"/>
                </a:solidFill>
                <a:latin typeface="Roboto Medium"/>
                <a:ea typeface="Roboto Medium"/>
                <a:cs typeface="Roboto Medium"/>
                <a:sym typeface="Roboto Medium"/>
              </a:rPr>
              <a:t> you can create a fresh venv and install all the listed packages:</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(uv) </a:t>
            </a:r>
            <a:r>
              <a:rPr i="1" lang="en-GB" sz="2400">
                <a:solidFill>
                  <a:schemeClr val="accent4"/>
                </a:solidFill>
                <a:latin typeface="Roboto Medium"/>
                <a:ea typeface="Roboto Medium"/>
                <a:cs typeface="Roboto Medium"/>
                <a:sym typeface="Roboto Medium"/>
              </a:rPr>
              <a:t>pip install -r &lt;path_to_file&gt;/requirements.txt</a:t>
            </a:r>
            <a:endParaRPr i="1" sz="2400">
              <a:solidFill>
                <a:schemeClr val="accent4"/>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You will see this pattern in may research code bases</a:t>
            </a:r>
            <a:endParaRPr sz="2400">
              <a:solidFill>
                <a:schemeClr val="lt1"/>
              </a:solidFill>
              <a:latin typeface="Roboto Medium"/>
              <a:ea typeface="Roboto Medium"/>
              <a:cs typeface="Roboto Medium"/>
              <a:sym typeface="Roboto Medium"/>
            </a:endParaRPr>
          </a:p>
          <a:p>
            <a:pPr indent="0" lvl="0" marL="0" marR="0" rtl="0" algn="l">
              <a:lnSpc>
                <a:spcPct val="100000"/>
              </a:lnSpc>
              <a:spcBef>
                <a:spcPts val="2000"/>
              </a:spcBef>
              <a:spcAft>
                <a:spcPts val="0"/>
              </a:spcAft>
              <a:buNone/>
            </a:pPr>
            <a:r>
              <a:t/>
            </a:r>
            <a:endParaRPr sz="2400">
              <a:solidFill>
                <a:schemeClr val="accent4"/>
              </a:solidFill>
              <a:latin typeface="Roboto Medium"/>
              <a:ea typeface="Roboto Medium"/>
              <a:cs typeface="Roboto Medium"/>
              <a:sym typeface="Roboto Medium"/>
            </a:endParaRPr>
          </a:p>
        </p:txBody>
      </p:sp>
      <p:pic>
        <p:nvPicPr>
          <p:cNvPr id="124" name="Google Shape;124;g3f72392adc6_0_29" title="requirements.txt-2.png"/>
          <p:cNvPicPr preferRelativeResize="0"/>
          <p:nvPr/>
        </p:nvPicPr>
        <p:blipFill>
          <a:blip r:embed="rId3">
            <a:alphaModFix/>
          </a:blip>
          <a:stretch>
            <a:fillRect/>
          </a:stretch>
        </p:blipFill>
        <p:spPr>
          <a:xfrm>
            <a:off x="8107375" y="1568175"/>
            <a:ext cx="6492273" cy="3721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f62a09efe0_0_214"/>
          <p:cNvSpPr txBox="1"/>
          <p:nvPr>
            <p:ph type="ctrTitle"/>
          </p:nvPr>
        </p:nvSpPr>
        <p:spPr>
          <a:xfrm>
            <a:off x="633046" y="2296608"/>
            <a:ext cx="9043500" cy="22647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82152"/>
              <a:buFont typeface="Roboto Serif SemiBold"/>
              <a:buNone/>
            </a:pPr>
            <a:r>
              <a:rPr lang="en-GB"/>
              <a:t>Create your packages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f62a09efe0_0_186"/>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Packaging</a:t>
            </a:r>
            <a:endParaRPr b="1" i="0" sz="2800" u="none" cap="none" strike="noStrike">
              <a:solidFill>
                <a:srgbClr val="FFFFFF"/>
              </a:solidFill>
              <a:latin typeface="Roboto"/>
              <a:ea typeface="Roboto"/>
              <a:cs typeface="Roboto"/>
              <a:sym typeface="Roboto"/>
            </a:endParaRPr>
          </a:p>
        </p:txBody>
      </p:sp>
      <p:sp>
        <p:nvSpPr>
          <p:cNvPr id="135" name="Google Shape;135;g3f62a09efe0_0_186"/>
          <p:cNvSpPr txBox="1"/>
          <p:nvPr/>
        </p:nvSpPr>
        <p:spPr>
          <a:xfrm>
            <a:off x="415600" y="1536624"/>
            <a:ext cx="7837200" cy="5062800"/>
          </a:xfrm>
          <a:prstGeom prst="rect">
            <a:avLst/>
          </a:prstGeom>
          <a:noFill/>
          <a:ln>
            <a:noFill/>
          </a:ln>
        </p:spPr>
        <p:txBody>
          <a:bodyPr anchorCtr="0" anchor="t" bIns="91425" lIns="91425" spcFirstLastPara="1" rIns="91425" wrap="square" tIns="91425">
            <a:norm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While requirements.txt gives a simple and </a:t>
            </a:r>
            <a:r>
              <a:rPr lang="en-GB" sz="2400">
                <a:solidFill>
                  <a:srgbClr val="D5D5D5"/>
                </a:solidFill>
                <a:latin typeface="Roboto Medium"/>
                <a:ea typeface="Roboto Medium"/>
                <a:cs typeface="Roboto Medium"/>
                <a:sym typeface="Roboto Medium"/>
              </a:rPr>
              <a:t>straightforward</a:t>
            </a:r>
            <a:r>
              <a:rPr lang="en-GB" sz="2400">
                <a:solidFill>
                  <a:srgbClr val="D5D5D5"/>
                </a:solidFill>
                <a:latin typeface="Roboto Medium"/>
                <a:ea typeface="Roboto Medium"/>
                <a:cs typeface="Roboto Medium"/>
                <a:sym typeface="Roboto Medium"/>
              </a:rPr>
              <a:t> way to create the same environment, but it is not the best practice for creating a package that can be run anywhere</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To do this we need to create an </a:t>
            </a:r>
            <a:r>
              <a:rPr lang="en-GB" sz="2400">
                <a:solidFill>
                  <a:srgbClr val="D5D5D5"/>
                </a:solidFill>
                <a:latin typeface="Roboto Medium"/>
                <a:ea typeface="Roboto Medium"/>
                <a:cs typeface="Roboto Medium"/>
                <a:sym typeface="Roboto Medium"/>
              </a:rPr>
              <a:t>artifact</a:t>
            </a:r>
            <a:r>
              <a:rPr lang="en-GB" sz="2400">
                <a:solidFill>
                  <a:srgbClr val="D5D5D5"/>
                </a:solidFill>
                <a:latin typeface="Roboto Medium"/>
                <a:ea typeface="Roboto Medium"/>
                <a:cs typeface="Roboto Medium"/>
                <a:sym typeface="Roboto Medium"/>
              </a:rPr>
              <a:t> (that is called a </a:t>
            </a:r>
            <a:r>
              <a:rPr lang="en-GB" sz="2400">
                <a:solidFill>
                  <a:srgbClr val="D5D5D5"/>
                </a:solidFill>
                <a:latin typeface="Roboto Medium"/>
                <a:ea typeface="Roboto Medium"/>
                <a:cs typeface="Roboto Medium"/>
                <a:sym typeface="Roboto Medium"/>
              </a:rPr>
              <a:t>wheel) so that the package installers (pip, uv) can use to install the relevant files</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To build such an artifact we need to write a project file, pyproject.toml</a:t>
            </a:r>
            <a:endParaRPr sz="2400">
              <a:solidFill>
                <a:srgbClr val="D5D5D5"/>
              </a:solidFill>
              <a:latin typeface="Roboto Medium"/>
              <a:ea typeface="Roboto Medium"/>
              <a:cs typeface="Roboto Medium"/>
              <a:sym typeface="Robot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f72392adc6_0_34"/>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Creating </a:t>
            </a:r>
            <a:r>
              <a:rPr b="1" lang="en-GB" sz="2800">
                <a:solidFill>
                  <a:schemeClr val="dk1"/>
                </a:solidFill>
                <a:latin typeface="Roboto"/>
                <a:ea typeface="Roboto"/>
                <a:cs typeface="Roboto"/>
                <a:sym typeface="Roboto"/>
              </a:rPr>
              <a:t>packages</a:t>
            </a:r>
            <a:endParaRPr b="1" sz="2800">
              <a:solidFill>
                <a:srgbClr val="FFFFFF"/>
              </a:solidFill>
              <a:latin typeface="Roboto"/>
              <a:ea typeface="Roboto"/>
              <a:cs typeface="Roboto"/>
              <a:sym typeface="Roboto"/>
            </a:endParaRPr>
          </a:p>
        </p:txBody>
      </p:sp>
      <p:pic>
        <p:nvPicPr>
          <p:cNvPr id="141" name="Google Shape;141;g3f72392adc6_0_34" title="ray-so-export-2.png"/>
          <p:cNvPicPr preferRelativeResize="0"/>
          <p:nvPr/>
        </p:nvPicPr>
        <p:blipFill>
          <a:blip r:embed="rId3">
            <a:alphaModFix/>
          </a:blip>
          <a:stretch>
            <a:fillRect/>
          </a:stretch>
        </p:blipFill>
        <p:spPr>
          <a:xfrm>
            <a:off x="7661189" y="1686188"/>
            <a:ext cx="4442173" cy="3485623"/>
          </a:xfrm>
          <a:prstGeom prst="rect">
            <a:avLst/>
          </a:prstGeom>
          <a:noFill/>
          <a:ln>
            <a:noFill/>
          </a:ln>
        </p:spPr>
      </p:pic>
      <p:sp>
        <p:nvSpPr>
          <p:cNvPr id="142" name="Google Shape;142;g3f72392adc6_0_34"/>
          <p:cNvSpPr txBox="1"/>
          <p:nvPr/>
        </p:nvSpPr>
        <p:spPr>
          <a:xfrm>
            <a:off x="415600" y="1537200"/>
            <a:ext cx="72456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Take our old calculator project as an example, write a .toml file as shown on the right:</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accent4"/>
                </a:solidFill>
                <a:latin typeface="Roboto Medium"/>
                <a:ea typeface="Roboto Medium"/>
                <a:cs typeface="Roboto Medium"/>
                <a:sym typeface="Roboto Medium"/>
              </a:rPr>
              <a:t>[project]</a:t>
            </a:r>
            <a:r>
              <a:rPr lang="en-GB" sz="2400">
                <a:solidFill>
                  <a:schemeClr val="lt1"/>
                </a:solidFill>
                <a:latin typeface="Roboto Medium"/>
                <a:ea typeface="Roboto Medium"/>
                <a:cs typeface="Roboto Medium"/>
                <a:sym typeface="Roboto Medium"/>
              </a:rPr>
              <a:t> section lists the basic info about the package, including version, dependencies, name</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accent4"/>
                </a:solidFill>
                <a:latin typeface="Roboto Medium"/>
                <a:ea typeface="Roboto Medium"/>
                <a:cs typeface="Roboto Medium"/>
                <a:sym typeface="Roboto Medium"/>
              </a:rPr>
              <a:t>[project.scripts] </a:t>
            </a:r>
            <a:r>
              <a:rPr lang="en-GB" sz="2400">
                <a:solidFill>
                  <a:schemeClr val="lt1"/>
                </a:solidFill>
                <a:latin typeface="Roboto Medium"/>
                <a:ea typeface="Roboto Medium"/>
                <a:cs typeface="Roboto Medium"/>
                <a:sym typeface="Roboto Medium"/>
              </a:rPr>
              <a:t>section defines the command and the function to run for </a:t>
            </a:r>
            <a:r>
              <a:rPr lang="en-GB" sz="2400">
                <a:solidFill>
                  <a:schemeClr val="lt1"/>
                </a:solidFill>
                <a:latin typeface="Roboto Medium"/>
                <a:ea typeface="Roboto Medium"/>
                <a:cs typeface="Roboto Medium"/>
                <a:sym typeface="Roboto Medium"/>
              </a:rPr>
              <a:t>command line</a:t>
            </a:r>
            <a:r>
              <a:rPr lang="en-GB" sz="2400">
                <a:solidFill>
                  <a:schemeClr val="lt1"/>
                </a:solidFill>
                <a:latin typeface="Roboto Medium"/>
                <a:ea typeface="Roboto Medium"/>
                <a:cs typeface="Roboto Medium"/>
                <a:sym typeface="Roboto Medium"/>
              </a:rPr>
              <a:t> </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accent4"/>
                </a:solidFill>
                <a:latin typeface="Roboto Medium"/>
                <a:ea typeface="Roboto Medium"/>
                <a:cs typeface="Roboto Medium"/>
                <a:sym typeface="Roboto Medium"/>
              </a:rPr>
              <a:t>[build-system] </a:t>
            </a:r>
            <a:r>
              <a:rPr lang="en-GB" sz="2400">
                <a:solidFill>
                  <a:schemeClr val="lt1"/>
                </a:solidFill>
                <a:latin typeface="Roboto Medium"/>
                <a:ea typeface="Roboto Medium"/>
                <a:cs typeface="Roboto Medium"/>
                <a:sym typeface="Roboto Medium"/>
              </a:rPr>
              <a:t>section </a:t>
            </a:r>
            <a:r>
              <a:rPr lang="en-GB" sz="2400">
                <a:solidFill>
                  <a:schemeClr val="lt1"/>
                </a:solidFill>
                <a:latin typeface="Roboto Medium"/>
                <a:ea typeface="Roboto Medium"/>
                <a:cs typeface="Roboto Medium"/>
                <a:sym typeface="Roboto Medium"/>
              </a:rPr>
              <a:t>specify</a:t>
            </a:r>
            <a:r>
              <a:rPr lang="en-GB" sz="2400">
                <a:solidFill>
                  <a:schemeClr val="lt1"/>
                </a:solidFill>
                <a:latin typeface="Roboto Medium"/>
                <a:ea typeface="Roboto Medium"/>
                <a:cs typeface="Roboto Medium"/>
                <a:sym typeface="Roboto Medium"/>
              </a:rPr>
              <a:t> the setup </a:t>
            </a:r>
            <a:r>
              <a:rPr lang="en-GB" sz="2400">
                <a:solidFill>
                  <a:schemeClr val="lt1"/>
                </a:solidFill>
                <a:latin typeface="Roboto Medium"/>
                <a:ea typeface="Roboto Medium"/>
                <a:cs typeface="Roboto Medium"/>
                <a:sym typeface="Roboto Medium"/>
              </a:rPr>
              <a:t>tool </a:t>
            </a:r>
            <a:r>
              <a:rPr lang="en-GB" sz="2400">
                <a:solidFill>
                  <a:schemeClr val="lt1"/>
                </a:solidFill>
                <a:latin typeface="Roboto Medium"/>
                <a:ea typeface="Roboto Medium"/>
                <a:cs typeface="Roboto Medium"/>
                <a:sym typeface="Roboto Medium"/>
              </a:rPr>
              <a:t>to build the artifact</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accent4"/>
                </a:solidFill>
                <a:latin typeface="Roboto Medium"/>
                <a:ea typeface="Roboto Medium"/>
                <a:cs typeface="Roboto Medium"/>
                <a:sym typeface="Roboto Medium"/>
              </a:rPr>
              <a:t>[tools.setuptools] </a:t>
            </a:r>
            <a:r>
              <a:rPr lang="en-GB" sz="2400">
                <a:solidFill>
                  <a:schemeClr val="lt1"/>
                </a:solidFill>
                <a:latin typeface="Roboto Medium"/>
                <a:ea typeface="Roboto Medium"/>
                <a:cs typeface="Roboto Medium"/>
                <a:sym typeface="Roboto Medium"/>
              </a:rPr>
              <a:t>section tells the setup tool what </a:t>
            </a:r>
            <a:r>
              <a:rPr lang="en-GB" sz="2400">
                <a:solidFill>
                  <a:schemeClr val="lt1"/>
                </a:solidFill>
                <a:latin typeface="Roboto Medium"/>
                <a:ea typeface="Roboto Medium"/>
                <a:cs typeface="Roboto Medium"/>
                <a:sym typeface="Roboto Medium"/>
              </a:rPr>
              <a:t>python</a:t>
            </a:r>
            <a:r>
              <a:rPr lang="en-GB" sz="2400">
                <a:solidFill>
                  <a:schemeClr val="lt1"/>
                </a:solidFill>
                <a:latin typeface="Roboto Medium"/>
                <a:ea typeface="Roboto Medium"/>
                <a:cs typeface="Roboto Medium"/>
                <a:sym typeface="Roboto Medium"/>
              </a:rPr>
              <a:t> files to include in the final wheel</a:t>
            </a:r>
            <a:endParaRPr sz="2400">
              <a:solidFill>
                <a:schemeClr val="lt1"/>
              </a:solidFill>
              <a:latin typeface="Roboto Medium"/>
              <a:ea typeface="Roboto Medium"/>
              <a:cs typeface="Roboto Medium"/>
              <a:sym typeface="Roboto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f72392adc6_1_27"/>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Build and install the package</a:t>
            </a:r>
            <a:endParaRPr b="1" sz="2800">
              <a:solidFill>
                <a:srgbClr val="FFFFFF"/>
              </a:solidFill>
              <a:latin typeface="Roboto"/>
              <a:ea typeface="Roboto"/>
              <a:cs typeface="Roboto"/>
              <a:sym typeface="Roboto"/>
            </a:endParaRPr>
          </a:p>
        </p:txBody>
      </p:sp>
      <p:sp>
        <p:nvSpPr>
          <p:cNvPr id="148" name="Google Shape;148;g3f72392adc6_1_27"/>
          <p:cNvSpPr txBox="1"/>
          <p:nvPr/>
        </p:nvSpPr>
        <p:spPr>
          <a:xfrm>
            <a:off x="415600" y="1537200"/>
            <a:ext cx="113607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When you have your toml file ready, you can build the wheel from it, use: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5"/>
              </a:buClr>
              <a:buSzPts val="1400"/>
              <a:buFont typeface="Roboto Medium"/>
              <a:buChar char="○"/>
            </a:pPr>
            <a:r>
              <a:rPr i="1" lang="en-GB" sz="2400">
                <a:solidFill>
                  <a:schemeClr val="accent4"/>
                </a:solidFill>
                <a:latin typeface="Roboto Medium"/>
                <a:ea typeface="Roboto Medium"/>
                <a:cs typeface="Roboto Medium"/>
                <a:sym typeface="Roboto Medium"/>
              </a:rPr>
              <a:t>p</a:t>
            </a:r>
            <a:r>
              <a:rPr i="1" lang="en-GB" sz="2400">
                <a:solidFill>
                  <a:schemeClr val="accent4"/>
                </a:solidFill>
                <a:latin typeface="Roboto Medium"/>
                <a:ea typeface="Roboto Medium"/>
                <a:cs typeface="Roboto Medium"/>
                <a:sym typeface="Roboto Medium"/>
              </a:rPr>
              <a:t>ython3 -m build</a:t>
            </a:r>
            <a:r>
              <a:rPr lang="en-GB" sz="2400">
                <a:solidFill>
                  <a:schemeClr val="lt1"/>
                </a:solidFill>
                <a:latin typeface="Roboto Medium"/>
                <a:ea typeface="Roboto Medium"/>
                <a:cs typeface="Roboto Medium"/>
                <a:sym typeface="Roboto Medium"/>
              </a:rPr>
              <a:t> (might need to install build), or </a:t>
            </a:r>
            <a:r>
              <a:rPr i="1" lang="en-GB" sz="2400">
                <a:solidFill>
                  <a:schemeClr val="accent4"/>
                </a:solidFill>
                <a:latin typeface="Roboto Medium"/>
                <a:ea typeface="Roboto Medium"/>
                <a:cs typeface="Roboto Medium"/>
                <a:sym typeface="Roboto Medium"/>
              </a:rPr>
              <a:t>uv build</a:t>
            </a:r>
            <a:endParaRPr i="1" sz="2400">
              <a:solidFill>
                <a:schemeClr val="accent4"/>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Now you show see a folder called dist, it contains:</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5"/>
              </a:buClr>
              <a:buSzPts val="1400"/>
              <a:buFont typeface="Roboto Medium"/>
              <a:buChar char="○"/>
            </a:pPr>
            <a:r>
              <a:rPr lang="en-GB" sz="2400">
                <a:solidFill>
                  <a:schemeClr val="lt1"/>
                </a:solidFill>
                <a:latin typeface="Roboto Medium"/>
                <a:ea typeface="Roboto Medium"/>
                <a:cs typeface="Roboto Medium"/>
                <a:sym typeface="Roboto Medium"/>
              </a:rPr>
              <a:t>A </a:t>
            </a:r>
            <a:r>
              <a:rPr lang="en-GB" sz="2400">
                <a:solidFill>
                  <a:srgbClr val="FFC83D"/>
                </a:solidFill>
                <a:latin typeface="Roboto Medium"/>
                <a:ea typeface="Roboto Medium"/>
                <a:cs typeface="Roboto Medium"/>
                <a:sym typeface="Roboto Medium"/>
              </a:rPr>
              <a:t>.tar.gz</a:t>
            </a:r>
            <a:r>
              <a:rPr lang="en-GB" sz="2400">
                <a:solidFill>
                  <a:schemeClr val="lt1"/>
                </a:solidFill>
                <a:latin typeface="Roboto Medium"/>
                <a:ea typeface="Roboto Medium"/>
                <a:cs typeface="Roboto Medium"/>
                <a:sym typeface="Roboto Medium"/>
              </a:rPr>
              <a:t> file for system that needs to build from source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5"/>
              </a:buClr>
              <a:buSzPts val="1400"/>
              <a:buFont typeface="Roboto Medium"/>
              <a:buChar char="○"/>
            </a:pPr>
            <a:r>
              <a:rPr lang="en-GB" sz="2400">
                <a:solidFill>
                  <a:schemeClr val="lt1"/>
                </a:solidFill>
                <a:latin typeface="Roboto Medium"/>
                <a:ea typeface="Roboto Medium"/>
                <a:cs typeface="Roboto Medium"/>
                <a:sym typeface="Roboto Medium"/>
              </a:rPr>
              <a:t>A </a:t>
            </a:r>
            <a:r>
              <a:rPr lang="en-GB" sz="2400">
                <a:solidFill>
                  <a:schemeClr val="accent4"/>
                </a:solidFill>
                <a:latin typeface="Roboto Medium"/>
                <a:ea typeface="Roboto Medium"/>
                <a:cs typeface="Roboto Medium"/>
                <a:sym typeface="Roboto Medium"/>
              </a:rPr>
              <a:t>.whl</a:t>
            </a:r>
            <a:r>
              <a:rPr lang="en-GB" sz="2400">
                <a:solidFill>
                  <a:schemeClr val="lt1"/>
                </a:solidFill>
                <a:latin typeface="Roboto Medium"/>
                <a:ea typeface="Roboto Medium"/>
                <a:cs typeface="Roboto Medium"/>
                <a:sym typeface="Roboto Medium"/>
              </a:rPr>
              <a:t> file which is the wheel we just built</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Now, to install the from the wheel, we can use: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5"/>
              </a:buClr>
              <a:buSzPts val="1400"/>
              <a:buFont typeface="Roboto Medium"/>
              <a:buChar char="○"/>
            </a:pPr>
            <a:r>
              <a:rPr i="1" lang="en-GB" sz="2400">
                <a:solidFill>
                  <a:schemeClr val="accent4"/>
                </a:solidFill>
                <a:latin typeface="Roboto Medium"/>
                <a:ea typeface="Roboto Medium"/>
                <a:cs typeface="Roboto Medium"/>
                <a:sym typeface="Roboto Medium"/>
              </a:rPr>
              <a:t>(uv) </a:t>
            </a:r>
            <a:r>
              <a:rPr i="1" lang="en-GB" sz="2400">
                <a:solidFill>
                  <a:schemeClr val="accent4"/>
                </a:solidFill>
                <a:latin typeface="Roboto Medium"/>
                <a:ea typeface="Roboto Medium"/>
                <a:cs typeface="Roboto Medium"/>
                <a:sym typeface="Roboto Medium"/>
              </a:rPr>
              <a:t>p</a:t>
            </a:r>
            <a:r>
              <a:rPr i="1" lang="en-GB" sz="2400">
                <a:solidFill>
                  <a:schemeClr val="accent4"/>
                </a:solidFill>
                <a:latin typeface="Roboto Medium"/>
                <a:ea typeface="Roboto Medium"/>
                <a:cs typeface="Roboto Medium"/>
                <a:sym typeface="Roboto Medium"/>
              </a:rPr>
              <a:t>ip install ./dist/&lt;filename&gt;.whl</a:t>
            </a:r>
            <a:endParaRPr i="1" sz="2400">
              <a:solidFill>
                <a:schemeClr val="accent4"/>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After the package is installed, try type </a:t>
            </a:r>
            <a:r>
              <a:rPr i="1" lang="en-GB" sz="2400">
                <a:solidFill>
                  <a:schemeClr val="accent4"/>
                </a:solidFill>
                <a:latin typeface="Roboto Medium"/>
                <a:ea typeface="Roboto Medium"/>
                <a:cs typeface="Roboto Medium"/>
                <a:sym typeface="Roboto Medium"/>
              </a:rPr>
              <a:t>fizzbuzz</a:t>
            </a:r>
            <a:r>
              <a:rPr lang="en-GB" sz="2400">
                <a:solidFill>
                  <a:schemeClr val="lt1"/>
                </a:solidFill>
                <a:latin typeface="Roboto Medium"/>
                <a:ea typeface="Roboto Medium"/>
                <a:cs typeface="Roboto Medium"/>
                <a:sym typeface="Roboto Medium"/>
              </a:rPr>
              <a:t> in your command line</a:t>
            </a:r>
            <a:endParaRPr sz="2400">
              <a:solidFill>
                <a:schemeClr val="lt1"/>
              </a:solidFill>
              <a:latin typeface="Roboto Medium"/>
              <a:ea typeface="Roboto Medium"/>
              <a:cs typeface="Roboto Medium"/>
              <a:sym typeface="Roboto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f62a09efe0_0_195"/>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Some limitations </a:t>
            </a:r>
            <a:endParaRPr b="1" i="0" sz="2800" u="none" cap="none" strike="noStrike">
              <a:solidFill>
                <a:srgbClr val="FFFFFF"/>
              </a:solidFill>
              <a:latin typeface="Roboto"/>
              <a:ea typeface="Roboto"/>
              <a:cs typeface="Roboto"/>
              <a:sym typeface="Roboto"/>
            </a:endParaRPr>
          </a:p>
        </p:txBody>
      </p:sp>
      <p:sp>
        <p:nvSpPr>
          <p:cNvPr id="154" name="Google Shape;154;g3f62a09efe0_0_195"/>
          <p:cNvSpPr txBox="1"/>
          <p:nvPr/>
        </p:nvSpPr>
        <p:spPr>
          <a:xfrm>
            <a:off x="415600" y="1536624"/>
            <a:ext cx="7837200" cy="5062800"/>
          </a:xfrm>
          <a:prstGeom prst="rect">
            <a:avLst/>
          </a:prstGeom>
          <a:noFill/>
          <a:ln>
            <a:noFill/>
          </a:ln>
        </p:spPr>
        <p:txBody>
          <a:bodyPr anchorCtr="0" anchor="t" bIns="91425" lIns="91425" spcFirstLastPara="1" rIns="91425" wrap="square" tIns="91425">
            <a:normAutofit lnSpcReduction="10000"/>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The previous method works fine when your code is not depended on architecture-specific compiled code</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You will have to build separate wheels for different platforms (Linux, macOS, Windows), and architecture (x86, ARM) if you have such code </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Alternatively you can distribute the source code and let users build from the source distribution, but this will take longer and require users to have the corresponding compiler and build tool </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This is the difference between installing from source and pre-built binary</a:t>
            </a:r>
            <a:endParaRPr sz="2400">
              <a:solidFill>
                <a:srgbClr val="D5D5D5"/>
              </a:solidFill>
              <a:latin typeface="Roboto Medium"/>
              <a:ea typeface="Roboto Medium"/>
              <a:cs typeface="Roboto Medium"/>
              <a:sym typeface="Roboto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f62a09efe0_0_209"/>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Versioning</a:t>
            </a:r>
            <a:endParaRPr b="1" i="0" sz="2800" u="none" cap="none" strike="noStrike">
              <a:solidFill>
                <a:srgbClr val="FFFFFF"/>
              </a:solidFill>
              <a:latin typeface="Roboto"/>
              <a:ea typeface="Roboto"/>
              <a:cs typeface="Roboto"/>
              <a:sym typeface="Roboto"/>
            </a:endParaRPr>
          </a:p>
        </p:txBody>
      </p:sp>
      <p:sp>
        <p:nvSpPr>
          <p:cNvPr id="160" name="Google Shape;160;g3f62a09efe0_0_209"/>
          <p:cNvSpPr txBox="1"/>
          <p:nvPr/>
        </p:nvSpPr>
        <p:spPr>
          <a:xfrm>
            <a:off x="415600" y="1536624"/>
            <a:ext cx="7837200" cy="5062800"/>
          </a:xfrm>
          <a:prstGeom prst="rect">
            <a:avLst/>
          </a:prstGeom>
          <a:noFill/>
          <a:ln>
            <a:noFill/>
          </a:ln>
        </p:spPr>
        <p:txBody>
          <a:bodyPr anchorCtr="0" anchor="t" bIns="91425" lIns="91425" spcFirstLastPara="1" rIns="91425" wrap="square" tIns="91425">
            <a:normAutofit lnSpcReduction="20000"/>
          </a:bodyPr>
          <a:lstStyle/>
          <a:p>
            <a:pPr indent="-330200" lvl="0" marL="457200" rtl="0" algn="l">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As we have seen before, whenever you are installing or build packages, you need to be careful with the versioning</a:t>
            </a:r>
            <a:endParaRPr sz="2400">
              <a:solidFill>
                <a:schemeClr val="lt1"/>
              </a:solidFill>
              <a:latin typeface="Roboto Medium"/>
              <a:ea typeface="Roboto Medium"/>
              <a:cs typeface="Roboto Medium"/>
              <a:sym typeface="Roboto Medium"/>
            </a:endParaRPr>
          </a:p>
          <a:p>
            <a:pPr indent="-330200" lvl="0" marL="457200" rtl="0" algn="l">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Under Semantic Versioning, the versions have a form of MAJOR.MINOR.PATCH, each of them are integer values</a:t>
            </a:r>
            <a:endParaRPr sz="2400">
              <a:solidFill>
                <a:schemeClr val="lt1"/>
              </a:solidFill>
              <a:latin typeface="Roboto Medium"/>
              <a:ea typeface="Roboto Medium"/>
              <a:cs typeface="Roboto Medium"/>
              <a:sym typeface="Roboto Medium"/>
            </a:endParaRPr>
          </a:p>
          <a:p>
            <a:pPr indent="-317500" lvl="1" marL="914400" rtl="0" algn="l">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PATCH (0.1.0 -&gt; 0.1.1): Bug fixes, fully backwards compatible</a:t>
            </a:r>
            <a:endParaRPr sz="2400">
              <a:solidFill>
                <a:schemeClr val="lt1"/>
              </a:solidFill>
              <a:latin typeface="Roboto Medium"/>
              <a:ea typeface="Roboto Medium"/>
              <a:cs typeface="Roboto Medium"/>
              <a:sym typeface="Roboto Medium"/>
            </a:endParaRPr>
          </a:p>
          <a:p>
            <a:pPr indent="-317500" lvl="1" marL="914400" rtl="0" algn="l">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MINOR (0.1.1 -&gt; 0.2.0): New functionalities added in a backwards compatible way</a:t>
            </a:r>
            <a:endParaRPr sz="2400">
              <a:solidFill>
                <a:schemeClr val="lt1"/>
              </a:solidFill>
              <a:latin typeface="Roboto Medium"/>
              <a:ea typeface="Roboto Medium"/>
              <a:cs typeface="Roboto Medium"/>
              <a:sym typeface="Roboto Medium"/>
            </a:endParaRPr>
          </a:p>
          <a:p>
            <a:pPr indent="-317500" lvl="1" marL="914400" rtl="0" algn="l">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MAJOR (0.2.0 -&gt; 1.0.0): Make incompatible API changes</a:t>
            </a:r>
            <a:endParaRPr sz="2400">
              <a:solidFill>
                <a:schemeClr val="lt1"/>
              </a:solidFill>
              <a:latin typeface="Roboto Medium"/>
              <a:ea typeface="Roboto Medium"/>
              <a:cs typeface="Roboto Medium"/>
              <a:sym typeface="Roboto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f72392adc6_0_40"/>
          <p:cNvSpPr txBox="1"/>
          <p:nvPr>
            <p:ph type="ctrTitle"/>
          </p:nvPr>
        </p:nvSpPr>
        <p:spPr>
          <a:xfrm>
            <a:off x="633046" y="2296608"/>
            <a:ext cx="9043500" cy="22647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696"/>
              <a:buFont typeface="Roboto Serif SemiBold"/>
              <a:buNone/>
            </a:pPr>
            <a:r>
              <a:rPr lang="en-GB"/>
              <a:t>Containers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f6585972de_0_15"/>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Levels of abstraction </a:t>
            </a:r>
            <a:endParaRPr b="1" i="0" sz="2800" u="none" cap="none" strike="noStrike">
              <a:solidFill>
                <a:srgbClr val="FFFFFF"/>
              </a:solidFill>
              <a:latin typeface="Roboto"/>
              <a:ea typeface="Roboto"/>
              <a:cs typeface="Roboto"/>
              <a:sym typeface="Roboto"/>
            </a:endParaRPr>
          </a:p>
        </p:txBody>
      </p:sp>
      <p:sp>
        <p:nvSpPr>
          <p:cNvPr id="171" name="Google Shape;171;g3f6585972de_0_15"/>
          <p:cNvSpPr txBox="1"/>
          <p:nvPr/>
        </p:nvSpPr>
        <p:spPr>
          <a:xfrm>
            <a:off x="415600" y="1536624"/>
            <a:ext cx="7837200" cy="5062800"/>
          </a:xfrm>
          <a:prstGeom prst="rect">
            <a:avLst/>
          </a:prstGeom>
          <a:noFill/>
          <a:ln>
            <a:noFill/>
          </a:ln>
        </p:spPr>
        <p:txBody>
          <a:bodyPr anchorCtr="0" anchor="t" bIns="91425" lIns="91425" spcFirstLastPara="1" rIns="91425" wrap="square" tIns="91425">
            <a:norm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What we have talked so far (wheels, etc.) are limited to the python programming language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It assumes you have the system library and other OS supports</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And as we seen before, </a:t>
            </a:r>
            <a:r>
              <a:rPr lang="en-GB" sz="2400">
                <a:solidFill>
                  <a:schemeClr val="lt1"/>
                </a:solidFill>
                <a:latin typeface="Roboto Medium"/>
                <a:ea typeface="Roboto Medium"/>
                <a:cs typeface="Roboto Medium"/>
                <a:sym typeface="Roboto Medium"/>
              </a:rPr>
              <a:t>you</a:t>
            </a:r>
            <a:r>
              <a:rPr lang="en-GB" sz="2400">
                <a:solidFill>
                  <a:schemeClr val="lt1"/>
                </a:solidFill>
                <a:latin typeface="Roboto Medium"/>
                <a:ea typeface="Roboto Medium"/>
                <a:cs typeface="Roboto Medium"/>
                <a:sym typeface="Roboto Medium"/>
              </a:rPr>
              <a:t> will need different builds when you have </a:t>
            </a:r>
            <a:r>
              <a:rPr lang="en-GB" sz="2400">
                <a:solidFill>
                  <a:schemeClr val="lt1"/>
                </a:solidFill>
                <a:latin typeface="Roboto Medium"/>
                <a:ea typeface="Roboto Medium"/>
                <a:cs typeface="Roboto Medium"/>
                <a:sym typeface="Roboto Medium"/>
              </a:rPr>
              <a:t>architecture-specific compiled code</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To address this issue we adapt a higher level of abstraction. That is, not only abstract the python environment, but also the system libraries, file system, etc.</a:t>
            </a:r>
            <a:endParaRPr sz="2400">
              <a:solidFill>
                <a:schemeClr val="lt1"/>
              </a:solidFill>
              <a:latin typeface="Roboto Medium"/>
              <a:ea typeface="Roboto Medium"/>
              <a:cs typeface="Roboto Medium"/>
              <a:sym typeface="Roboto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f6585972de_0_31"/>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VMs and containers</a:t>
            </a:r>
            <a:endParaRPr b="1" i="0" sz="2800" u="none" cap="none" strike="noStrike">
              <a:solidFill>
                <a:srgbClr val="FFFFFF"/>
              </a:solidFill>
              <a:latin typeface="Roboto"/>
              <a:ea typeface="Roboto"/>
              <a:cs typeface="Roboto"/>
              <a:sym typeface="Roboto"/>
            </a:endParaRPr>
          </a:p>
        </p:txBody>
      </p:sp>
      <p:sp>
        <p:nvSpPr>
          <p:cNvPr id="177" name="Google Shape;177;g3f6585972de_0_31"/>
          <p:cNvSpPr txBox="1"/>
          <p:nvPr/>
        </p:nvSpPr>
        <p:spPr>
          <a:xfrm>
            <a:off x="415600" y="1536625"/>
            <a:ext cx="7837200" cy="5321400"/>
          </a:xfrm>
          <a:prstGeom prst="rect">
            <a:avLst/>
          </a:prstGeom>
          <a:noFill/>
          <a:ln>
            <a:noFill/>
          </a:ln>
        </p:spPr>
        <p:txBody>
          <a:bodyPr anchorCtr="0" anchor="t" bIns="91425" lIns="91425" spcFirstLastPara="1" rIns="91425" wrap="square" tIns="91425">
            <a:normAutofit lnSpcReduction="20000"/>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For this purpose we use VMs or containers, that can be run on any machine without separate builds</a:t>
            </a:r>
            <a:endParaRPr sz="2400">
              <a:solidFill>
                <a:srgbClr val="D5D5D5"/>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rgbClr val="D5D5D5"/>
                </a:solidFill>
                <a:latin typeface="Roboto Medium"/>
                <a:ea typeface="Roboto Medium"/>
                <a:cs typeface="Roboto Medium"/>
                <a:sym typeface="Roboto Medium"/>
              </a:rPr>
              <a:t>VM are virtual machines that runs on the host machine, contain the complete OS which creates an </a:t>
            </a:r>
            <a:r>
              <a:rPr lang="en-GB" sz="2400">
                <a:solidFill>
                  <a:srgbClr val="D5D5D5"/>
                </a:solidFill>
                <a:latin typeface="Roboto Medium"/>
                <a:ea typeface="Roboto Medium"/>
                <a:cs typeface="Roboto Medium"/>
                <a:sym typeface="Roboto Medium"/>
              </a:rPr>
              <a:t>isolate</a:t>
            </a:r>
            <a:r>
              <a:rPr lang="en-GB" sz="2400">
                <a:solidFill>
                  <a:srgbClr val="D5D5D5"/>
                </a:solidFill>
                <a:latin typeface="Roboto Medium"/>
                <a:ea typeface="Roboto Medium"/>
                <a:cs typeface="Roboto Medium"/>
                <a:sym typeface="Roboto Medium"/>
              </a:rPr>
              <a:t> environment</a:t>
            </a:r>
            <a:endParaRPr sz="2400">
              <a:solidFill>
                <a:srgbClr val="D5D5D5"/>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rgbClr val="D5D5D5"/>
                </a:solidFill>
                <a:latin typeface="Roboto Medium"/>
                <a:ea typeface="Roboto Medium"/>
                <a:cs typeface="Roboto Medium"/>
                <a:sym typeface="Roboto Medium"/>
              </a:rPr>
              <a:t>Containers are more </a:t>
            </a:r>
            <a:r>
              <a:rPr lang="en-GB" sz="2400">
                <a:solidFill>
                  <a:srgbClr val="D5D5D5"/>
                </a:solidFill>
                <a:latin typeface="Roboto Medium"/>
                <a:ea typeface="Roboto Medium"/>
                <a:cs typeface="Roboto Medium"/>
                <a:sym typeface="Roboto Medium"/>
              </a:rPr>
              <a:t>lightweight</a:t>
            </a:r>
            <a:r>
              <a:rPr lang="en-GB" sz="2400">
                <a:solidFill>
                  <a:srgbClr val="D5D5D5"/>
                </a:solidFill>
                <a:latin typeface="Roboto Medium"/>
                <a:ea typeface="Roboto Medium"/>
                <a:cs typeface="Roboto Medium"/>
                <a:sym typeface="Roboto Medium"/>
              </a:rPr>
              <a:t> and VMs because it </a:t>
            </a:r>
            <a:r>
              <a:rPr lang="en-GB" sz="2400">
                <a:solidFill>
                  <a:srgbClr val="D5D5D5"/>
                </a:solidFill>
                <a:latin typeface="Roboto Medium"/>
                <a:ea typeface="Roboto Medium"/>
                <a:cs typeface="Roboto Medium"/>
                <a:sym typeface="Roboto Medium"/>
              </a:rPr>
              <a:t>utilises</a:t>
            </a:r>
            <a:r>
              <a:rPr lang="en-GB" sz="2400">
                <a:solidFill>
                  <a:srgbClr val="D5D5D5"/>
                </a:solidFill>
                <a:latin typeface="Roboto Medium"/>
                <a:ea typeface="Roboto Medium"/>
                <a:cs typeface="Roboto Medium"/>
                <a:sym typeface="Roboto Medium"/>
              </a:rPr>
              <a:t> the host OS </a:t>
            </a:r>
            <a:r>
              <a:rPr lang="en-GB" sz="2400">
                <a:solidFill>
                  <a:srgbClr val="D5D5D5"/>
                </a:solidFill>
                <a:latin typeface="Roboto Medium"/>
                <a:ea typeface="Roboto Medium"/>
                <a:cs typeface="Roboto Medium"/>
                <a:sym typeface="Roboto Medium"/>
              </a:rPr>
              <a:t>kernel, and only contain your code, some system library, etc. But not the complete OS</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Modern industry prefers containers, and Docker is one of the most famous ones</a:t>
            </a:r>
            <a:endParaRPr sz="2400">
              <a:solidFill>
                <a:srgbClr val="D5D5D5"/>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accent4"/>
                </a:solidFill>
                <a:latin typeface="Roboto Medium"/>
                <a:ea typeface="Roboto Medium"/>
                <a:cs typeface="Roboto Medium"/>
                <a:sym typeface="Roboto Medium"/>
              </a:rPr>
              <a:t>https://docs.docker.com/get-started/get-docker/</a:t>
            </a:r>
            <a:endParaRPr sz="2400">
              <a:solidFill>
                <a:schemeClr val="accent4"/>
              </a:solidFill>
              <a:latin typeface="Roboto Medium"/>
              <a:ea typeface="Roboto Medium"/>
              <a:cs typeface="Roboto Medium"/>
              <a:sym typeface="Roboto Medium"/>
            </a:endParaRPr>
          </a:p>
          <a:p>
            <a:pPr indent="0" lvl="0" marL="457200" marR="0" rtl="0" algn="l">
              <a:lnSpc>
                <a:spcPct val="100000"/>
              </a:lnSpc>
              <a:spcBef>
                <a:spcPts val="2000"/>
              </a:spcBef>
              <a:spcAft>
                <a:spcPts val="0"/>
              </a:spcAft>
              <a:buClr>
                <a:srgbClr val="000000"/>
              </a:buClr>
              <a:buSzPts val="2400"/>
              <a:buFont typeface="Arial"/>
              <a:buNone/>
            </a:pPr>
            <a:r>
              <a:t/>
            </a:r>
            <a:endParaRPr b="0" i="0" sz="2400" u="none" cap="none" strike="noStrike">
              <a:solidFill>
                <a:srgbClr val="D5D5D5"/>
              </a:solidFill>
              <a:latin typeface="Roboto Medium"/>
              <a:ea typeface="Roboto Medium"/>
              <a:cs typeface="Roboto Medium"/>
              <a:sym typeface="Roboto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f6585972de_0_40"/>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Docker images, containers, files </a:t>
            </a:r>
            <a:endParaRPr b="1" i="0" sz="2800" u="none" cap="none" strike="noStrike">
              <a:solidFill>
                <a:srgbClr val="FFFFFF"/>
              </a:solidFill>
              <a:latin typeface="Roboto"/>
              <a:ea typeface="Roboto"/>
              <a:cs typeface="Roboto"/>
              <a:sym typeface="Roboto"/>
            </a:endParaRPr>
          </a:p>
        </p:txBody>
      </p:sp>
      <p:sp>
        <p:nvSpPr>
          <p:cNvPr id="183" name="Google Shape;183;g3f6585972de_0_40"/>
          <p:cNvSpPr txBox="1"/>
          <p:nvPr/>
        </p:nvSpPr>
        <p:spPr>
          <a:xfrm>
            <a:off x="415600" y="1536625"/>
            <a:ext cx="7837200" cy="5321400"/>
          </a:xfrm>
          <a:prstGeom prst="rect">
            <a:avLst/>
          </a:prstGeom>
          <a:noFill/>
          <a:ln>
            <a:noFill/>
          </a:ln>
        </p:spPr>
        <p:txBody>
          <a:bodyPr anchorCtr="0" anchor="t" bIns="91425" lIns="91425" spcFirstLastPara="1" rIns="91425" wrap="square" tIns="91425">
            <a:norm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An docker </a:t>
            </a:r>
            <a:r>
              <a:rPr lang="en-GB" sz="2400">
                <a:solidFill>
                  <a:srgbClr val="D5D5D5"/>
                </a:solidFill>
                <a:latin typeface="Roboto Medium"/>
                <a:ea typeface="Roboto Medium"/>
                <a:cs typeface="Roboto Medium"/>
                <a:sym typeface="Roboto Medium"/>
              </a:rPr>
              <a:t>packaged</a:t>
            </a:r>
            <a:r>
              <a:rPr lang="en-GB" sz="2400">
                <a:solidFill>
                  <a:srgbClr val="D5D5D5"/>
                </a:solidFill>
                <a:latin typeface="Roboto Medium"/>
                <a:ea typeface="Roboto Medium"/>
                <a:cs typeface="Roboto Medium"/>
                <a:sym typeface="Roboto Medium"/>
              </a:rPr>
              <a:t> </a:t>
            </a:r>
            <a:r>
              <a:rPr lang="en-GB" sz="2400">
                <a:solidFill>
                  <a:srgbClr val="D5D5D5"/>
                </a:solidFill>
                <a:latin typeface="Roboto Medium"/>
                <a:ea typeface="Roboto Medium"/>
                <a:cs typeface="Roboto Medium"/>
                <a:sym typeface="Roboto Medium"/>
              </a:rPr>
              <a:t>artifact</a:t>
            </a:r>
            <a:r>
              <a:rPr lang="en-GB" sz="2400">
                <a:solidFill>
                  <a:srgbClr val="D5D5D5"/>
                </a:solidFill>
                <a:latin typeface="Roboto Medium"/>
                <a:ea typeface="Roboto Medium"/>
                <a:cs typeface="Roboto Medium"/>
                <a:sym typeface="Roboto Medium"/>
              </a:rPr>
              <a:t> is called a docker image</a:t>
            </a:r>
            <a:endParaRPr sz="2400">
              <a:solidFill>
                <a:srgbClr val="D5D5D5"/>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rgbClr val="78909C"/>
              </a:buClr>
              <a:buSzPts val="1400"/>
              <a:buFont typeface="Roboto Medium"/>
              <a:buChar char="○"/>
            </a:pPr>
            <a:r>
              <a:rPr lang="en-GB" sz="2400">
                <a:solidFill>
                  <a:srgbClr val="D5D5D5"/>
                </a:solidFill>
                <a:latin typeface="Roboto Medium"/>
                <a:ea typeface="Roboto Medium"/>
                <a:cs typeface="Roboto Medium"/>
                <a:sym typeface="Roboto Medium"/>
              </a:rPr>
              <a:t>To build such an image you will need to write a docker file that contains some command-like code to include the required dependencies</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An image can be run anywhere, and a running instance of a docker image is called a docker container</a:t>
            </a:r>
            <a:endParaRPr sz="2400">
              <a:solidFill>
                <a:srgbClr val="D5D5D5"/>
              </a:solidFill>
              <a:latin typeface="Roboto Medium"/>
              <a:ea typeface="Roboto Medium"/>
              <a:cs typeface="Roboto Medium"/>
              <a:sym typeface="Roboto Medium"/>
            </a:endParaRPr>
          </a:p>
          <a:p>
            <a:pPr indent="0" lvl="0" marL="457200" marR="0" rtl="0" algn="l">
              <a:lnSpc>
                <a:spcPct val="100000"/>
              </a:lnSpc>
              <a:spcBef>
                <a:spcPts val="2000"/>
              </a:spcBef>
              <a:spcAft>
                <a:spcPts val="0"/>
              </a:spcAft>
              <a:buClr>
                <a:srgbClr val="000000"/>
              </a:buClr>
              <a:buSzPts val="2400"/>
              <a:buFont typeface="Arial"/>
              <a:buNone/>
            </a:pPr>
            <a:r>
              <a:t/>
            </a:r>
            <a:endParaRPr b="0" i="0" sz="2400" u="none" cap="none" strike="noStrike">
              <a:solidFill>
                <a:srgbClr val="D5D5D5"/>
              </a:solidFill>
              <a:latin typeface="Roboto Medium"/>
              <a:ea typeface="Roboto Medium"/>
              <a:cs typeface="Roboto Medium"/>
              <a:sym typeface="Roboto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f72392adc6_1_35"/>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Write a </a:t>
            </a:r>
            <a:r>
              <a:rPr b="1" lang="en-GB" sz="2800">
                <a:solidFill>
                  <a:schemeClr val="dk1"/>
                </a:solidFill>
                <a:latin typeface="Roboto"/>
                <a:ea typeface="Roboto"/>
                <a:cs typeface="Roboto"/>
                <a:sym typeface="Roboto"/>
              </a:rPr>
              <a:t>dockerfile</a:t>
            </a:r>
            <a:endParaRPr b="1" sz="2800">
              <a:solidFill>
                <a:srgbClr val="FFFFFF"/>
              </a:solidFill>
              <a:latin typeface="Roboto"/>
              <a:ea typeface="Roboto"/>
              <a:cs typeface="Roboto"/>
              <a:sym typeface="Roboto"/>
            </a:endParaRPr>
          </a:p>
        </p:txBody>
      </p:sp>
      <p:sp>
        <p:nvSpPr>
          <p:cNvPr id="189" name="Google Shape;189;g3f72392adc6_1_35"/>
          <p:cNvSpPr txBox="1"/>
          <p:nvPr/>
        </p:nvSpPr>
        <p:spPr>
          <a:xfrm>
            <a:off x="415600" y="1537200"/>
            <a:ext cx="75267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As shown, this is a dockerfile for fizzbuzz program</a:t>
            </a:r>
            <a:endParaRPr sz="2400">
              <a:solidFill>
                <a:schemeClr val="lt1"/>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Each line is an instruction that creates a new layer</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FROM selects a base image with python 3.13 </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WORKDIR is the base directory in the image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COPY copies local files to the work </a:t>
            </a:r>
            <a:r>
              <a:rPr lang="en-GB" sz="2400">
                <a:solidFill>
                  <a:schemeClr val="lt1"/>
                </a:solidFill>
                <a:latin typeface="Roboto Medium"/>
                <a:ea typeface="Roboto Medium"/>
                <a:cs typeface="Roboto Medium"/>
                <a:sym typeface="Roboto Medium"/>
              </a:rPr>
              <a:t>directory</a:t>
            </a:r>
            <a:r>
              <a:rPr lang="en-GB" sz="2400">
                <a:solidFill>
                  <a:schemeClr val="lt1"/>
                </a:solidFill>
                <a:latin typeface="Roboto Medium"/>
                <a:ea typeface="Roboto Medium"/>
                <a:cs typeface="Roboto Medium"/>
                <a:sym typeface="Roboto Medium"/>
              </a:rPr>
              <a:t> in the image </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RUN runs a command to installing our package</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lang="en-GB" sz="2400">
                <a:solidFill>
                  <a:schemeClr val="lt1"/>
                </a:solidFill>
                <a:latin typeface="Roboto Medium"/>
                <a:ea typeface="Roboto Medium"/>
                <a:cs typeface="Roboto Medium"/>
                <a:sym typeface="Roboto Medium"/>
              </a:rPr>
              <a:t>ENTRYPOINT tells what command to run when a </a:t>
            </a:r>
            <a:r>
              <a:rPr lang="en-GB" sz="2400">
                <a:solidFill>
                  <a:schemeClr val="lt1"/>
                </a:solidFill>
                <a:latin typeface="Roboto Medium"/>
                <a:ea typeface="Roboto Medium"/>
                <a:cs typeface="Roboto Medium"/>
                <a:sym typeface="Roboto Medium"/>
              </a:rPr>
              <a:t>container</a:t>
            </a:r>
            <a:r>
              <a:rPr lang="en-GB" sz="2400">
                <a:solidFill>
                  <a:schemeClr val="lt1"/>
                </a:solidFill>
                <a:latin typeface="Roboto Medium"/>
                <a:ea typeface="Roboto Medium"/>
                <a:cs typeface="Roboto Medium"/>
                <a:sym typeface="Roboto Medium"/>
              </a:rPr>
              <a:t> is started </a:t>
            </a:r>
            <a:endParaRPr sz="2400">
              <a:solidFill>
                <a:schemeClr val="lt1"/>
              </a:solidFill>
              <a:latin typeface="Roboto Medium"/>
              <a:ea typeface="Roboto Medium"/>
              <a:cs typeface="Roboto Medium"/>
              <a:sym typeface="Roboto Medium"/>
            </a:endParaRPr>
          </a:p>
        </p:txBody>
      </p:sp>
      <p:pic>
        <p:nvPicPr>
          <p:cNvPr id="190" name="Google Shape;190;g3f72392adc6_1_35" title="ray-so-export-3.png"/>
          <p:cNvPicPr preferRelativeResize="0"/>
          <p:nvPr/>
        </p:nvPicPr>
        <p:blipFill>
          <a:blip r:embed="rId3">
            <a:alphaModFix/>
          </a:blip>
          <a:stretch>
            <a:fillRect/>
          </a:stretch>
        </p:blipFill>
        <p:spPr>
          <a:xfrm>
            <a:off x="7942300" y="2254526"/>
            <a:ext cx="4249702" cy="23489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f72392adc6_0_44"/>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lt2"/>
              </a:buClr>
              <a:buSzPts val="2800"/>
              <a:buFont typeface="Arial"/>
              <a:buNone/>
            </a:pPr>
            <a:r>
              <a:rPr b="1" lang="en-GB" sz="2800">
                <a:solidFill>
                  <a:schemeClr val="dk1"/>
                </a:solidFill>
                <a:latin typeface="Roboto"/>
                <a:ea typeface="Roboto"/>
                <a:cs typeface="Roboto"/>
                <a:sym typeface="Roboto"/>
              </a:rPr>
              <a:t>Build the docker image</a:t>
            </a:r>
            <a:endParaRPr b="1" sz="2800">
              <a:solidFill>
                <a:srgbClr val="FFFFFF"/>
              </a:solidFill>
              <a:latin typeface="Roboto"/>
              <a:ea typeface="Roboto"/>
              <a:cs typeface="Roboto"/>
              <a:sym typeface="Roboto"/>
            </a:endParaRPr>
          </a:p>
        </p:txBody>
      </p:sp>
      <p:sp>
        <p:nvSpPr>
          <p:cNvPr id="196" name="Google Shape;196;g3f72392adc6_0_44"/>
          <p:cNvSpPr txBox="1"/>
          <p:nvPr/>
        </p:nvSpPr>
        <p:spPr>
          <a:xfrm>
            <a:off x="415600" y="1537200"/>
            <a:ext cx="11360700" cy="5027700"/>
          </a:xfrm>
          <a:prstGeom prst="rect">
            <a:avLst/>
          </a:prstGeom>
          <a:noFill/>
          <a:ln>
            <a:noFill/>
          </a:ln>
          <a:effectLst>
            <a:outerShdw blurRad="342900" rotWithShape="0" algn="bl" dir="3000000" dist="9525">
              <a:srgbClr val="000000">
                <a:alpha val="49800"/>
              </a:srgbClr>
            </a:outerShdw>
          </a:effectLst>
        </p:spPr>
        <p:txBody>
          <a:bodyPr anchorCtr="0" anchor="t" bIns="91425" lIns="91425" spcFirstLastPara="1" rIns="91425" wrap="square" tIns="91425">
            <a:noAutofit/>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After the docker file is ready, you can build the image using</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docker build -t &lt;image_name&gt; .</a:t>
            </a:r>
            <a:endParaRPr i="1" sz="2400">
              <a:solidFill>
                <a:schemeClr val="accent4"/>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You can then view the list of images you have built using</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d</a:t>
            </a:r>
            <a:r>
              <a:rPr i="1" lang="en-GB" sz="2400">
                <a:solidFill>
                  <a:schemeClr val="accent4"/>
                </a:solidFill>
                <a:latin typeface="Roboto Medium"/>
                <a:ea typeface="Roboto Medium"/>
                <a:cs typeface="Roboto Medium"/>
                <a:sym typeface="Roboto Medium"/>
              </a:rPr>
              <a:t>ocker image ls</a:t>
            </a:r>
            <a:endParaRPr i="1" sz="2400">
              <a:solidFill>
                <a:schemeClr val="accent4"/>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chemeClr val="lt1"/>
                </a:solidFill>
                <a:latin typeface="Roboto Medium"/>
                <a:ea typeface="Roboto Medium"/>
                <a:cs typeface="Roboto Medium"/>
                <a:sym typeface="Roboto Medium"/>
              </a:rPr>
              <a:t>Since our fizzbuzz program is </a:t>
            </a:r>
            <a:r>
              <a:rPr lang="en-GB" sz="2400">
                <a:solidFill>
                  <a:schemeClr val="lt1"/>
                </a:solidFill>
                <a:latin typeface="Roboto Medium"/>
                <a:ea typeface="Roboto Medium"/>
                <a:cs typeface="Roboto Medium"/>
                <a:sym typeface="Roboto Medium"/>
              </a:rPr>
              <a:t>interactive, you need to run it with</a:t>
            </a:r>
            <a:endParaRPr sz="2400">
              <a:solidFill>
                <a:schemeClr val="lt1"/>
              </a:solidFill>
              <a:latin typeface="Roboto Medium"/>
              <a:ea typeface="Roboto Medium"/>
              <a:cs typeface="Roboto Medium"/>
              <a:sym typeface="Roboto Medium"/>
            </a:endParaRPr>
          </a:p>
          <a:p>
            <a:pPr indent="-317500" lvl="1" marL="914400" marR="0" rtl="0" algn="l">
              <a:lnSpc>
                <a:spcPct val="100000"/>
              </a:lnSpc>
              <a:spcBef>
                <a:spcPts val="2000"/>
              </a:spcBef>
              <a:spcAft>
                <a:spcPts val="0"/>
              </a:spcAft>
              <a:buClr>
                <a:schemeClr val="accent3"/>
              </a:buClr>
              <a:buSzPts val="1400"/>
              <a:buFont typeface="Roboto Medium"/>
              <a:buChar char="○"/>
            </a:pPr>
            <a:r>
              <a:rPr i="1" lang="en-GB" sz="2400">
                <a:solidFill>
                  <a:schemeClr val="accent4"/>
                </a:solidFill>
                <a:latin typeface="Roboto Medium"/>
                <a:ea typeface="Roboto Medium"/>
                <a:cs typeface="Roboto Medium"/>
                <a:sym typeface="Roboto Medium"/>
              </a:rPr>
              <a:t>docker run --rm -it &lt;image_name&gt;</a:t>
            </a:r>
            <a:endParaRPr i="1" sz="2400">
              <a:solidFill>
                <a:schemeClr val="accent4"/>
              </a:solidFill>
              <a:latin typeface="Roboto Medium"/>
              <a:ea typeface="Roboto Medium"/>
              <a:cs typeface="Roboto Medium"/>
              <a:sym typeface="Roboto Medium"/>
            </a:endParaRPr>
          </a:p>
          <a:p>
            <a:pPr indent="0" lvl="0" marL="0" marR="0" rtl="0" algn="l">
              <a:lnSpc>
                <a:spcPct val="100000"/>
              </a:lnSpc>
              <a:spcBef>
                <a:spcPts val="2000"/>
              </a:spcBef>
              <a:spcAft>
                <a:spcPts val="0"/>
              </a:spcAft>
              <a:buNone/>
            </a:pPr>
            <a:r>
              <a:t/>
            </a:r>
            <a:endParaRPr sz="2400">
              <a:solidFill>
                <a:schemeClr val="accent4"/>
              </a:solidFill>
              <a:latin typeface="Roboto Medium"/>
              <a:ea typeface="Roboto Medium"/>
              <a:cs typeface="Roboto Medium"/>
              <a:sym typeface="Roboto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f72392adc6_0_53"/>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A little bit more about docker </a:t>
            </a:r>
            <a:endParaRPr b="1" i="0" sz="2800" u="none" cap="none" strike="noStrike">
              <a:solidFill>
                <a:srgbClr val="FFFFFF"/>
              </a:solidFill>
              <a:latin typeface="Roboto"/>
              <a:ea typeface="Roboto"/>
              <a:cs typeface="Roboto"/>
              <a:sym typeface="Roboto"/>
            </a:endParaRPr>
          </a:p>
        </p:txBody>
      </p:sp>
      <p:sp>
        <p:nvSpPr>
          <p:cNvPr id="202" name="Google Shape;202;g3f72392adc6_0_53"/>
          <p:cNvSpPr txBox="1"/>
          <p:nvPr/>
        </p:nvSpPr>
        <p:spPr>
          <a:xfrm>
            <a:off x="415600" y="1536625"/>
            <a:ext cx="7837200" cy="5321400"/>
          </a:xfrm>
          <a:prstGeom prst="rect">
            <a:avLst/>
          </a:prstGeom>
          <a:noFill/>
          <a:ln>
            <a:noFill/>
          </a:ln>
        </p:spPr>
        <p:txBody>
          <a:bodyPr anchorCtr="0" anchor="t" bIns="91425" lIns="91425" spcFirstLastPara="1" rIns="91425" wrap="square" tIns="91425">
            <a:normAutofit lnSpcReduction="10000"/>
          </a:bodyPr>
          <a:lstStyle/>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Although docker provides a higher level of abstraction, but running a docker image build for a certain architecture (e.g. amd) is still very slow on a different architecture (e.g. arm)</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There is a way to optimise your docker file so that it uses cached layers and will make the result image smaller, also build faster</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It is a common pattern to have multiple container running, each for a different service, and combine them together</a:t>
            </a:r>
            <a:endParaRPr sz="2400">
              <a:solidFill>
                <a:srgbClr val="D5D5D5"/>
              </a:solidFill>
              <a:latin typeface="Roboto Medium"/>
              <a:ea typeface="Roboto Medium"/>
              <a:cs typeface="Roboto Medium"/>
              <a:sym typeface="Roboto Medium"/>
            </a:endParaRPr>
          </a:p>
          <a:p>
            <a:pPr indent="-330200" lvl="0" marL="457200" marR="0" rtl="0" algn="l">
              <a:lnSpc>
                <a:spcPct val="100000"/>
              </a:lnSpc>
              <a:spcBef>
                <a:spcPts val="2000"/>
              </a:spcBef>
              <a:spcAft>
                <a:spcPts val="0"/>
              </a:spcAft>
              <a:buClr>
                <a:schemeClr val="accent1"/>
              </a:buClr>
              <a:buSzPts val="1600"/>
              <a:buFont typeface="Roboto Medium"/>
              <a:buChar char="&gt;"/>
            </a:pPr>
            <a:r>
              <a:rPr lang="en-GB" sz="2400">
                <a:solidFill>
                  <a:srgbClr val="D5D5D5"/>
                </a:solidFill>
                <a:latin typeface="Roboto Medium"/>
                <a:ea typeface="Roboto Medium"/>
                <a:cs typeface="Roboto Medium"/>
                <a:sym typeface="Roboto Medium"/>
              </a:rPr>
              <a:t>e</a:t>
            </a:r>
            <a:r>
              <a:rPr lang="en-GB" sz="2400">
                <a:solidFill>
                  <a:srgbClr val="D5D5D5"/>
                </a:solidFill>
                <a:latin typeface="Roboto Medium"/>
                <a:ea typeface="Roboto Medium"/>
                <a:cs typeface="Roboto Medium"/>
                <a:sym typeface="Roboto Medium"/>
              </a:rPr>
              <a:t>tc .</a:t>
            </a:r>
            <a:endParaRPr sz="2400">
              <a:solidFill>
                <a:srgbClr val="D5D5D5"/>
              </a:solidFill>
              <a:latin typeface="Roboto Medium"/>
              <a:ea typeface="Roboto Medium"/>
              <a:cs typeface="Roboto Medium"/>
              <a:sym typeface="Roboto Medium"/>
            </a:endParaRPr>
          </a:p>
          <a:p>
            <a:pPr indent="0" lvl="0" marL="457200" marR="0" rtl="0" algn="l">
              <a:lnSpc>
                <a:spcPct val="100000"/>
              </a:lnSpc>
              <a:spcBef>
                <a:spcPts val="2000"/>
              </a:spcBef>
              <a:spcAft>
                <a:spcPts val="0"/>
              </a:spcAft>
              <a:buClr>
                <a:srgbClr val="000000"/>
              </a:buClr>
              <a:buSzPts val="2400"/>
              <a:buFont typeface="Arial"/>
              <a:buNone/>
            </a:pPr>
            <a:r>
              <a:t/>
            </a:r>
            <a:endParaRPr b="0" i="0" sz="2400" u="none" cap="none" strike="noStrike">
              <a:solidFill>
                <a:srgbClr val="D5D5D5"/>
              </a:solidFill>
              <a:latin typeface="Roboto Medium"/>
              <a:ea typeface="Roboto Medium"/>
              <a:cs typeface="Roboto Medium"/>
              <a:sym typeface="Roboto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f6585972de_0_129"/>
          <p:cNvSpPr txBox="1"/>
          <p:nvPr/>
        </p:nvSpPr>
        <p:spPr>
          <a:xfrm>
            <a:off x="782271" y="2296658"/>
            <a:ext cx="9043500" cy="2264700"/>
          </a:xfrm>
          <a:prstGeom prst="rect">
            <a:avLst/>
          </a:prstGeom>
          <a:noFill/>
          <a:ln>
            <a:noFill/>
          </a:ln>
        </p:spPr>
        <p:txBody>
          <a:bodyPr anchorCtr="0" anchor="b"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6933"/>
              <a:buFont typeface="Arial"/>
              <a:buNone/>
            </a:pPr>
            <a:r>
              <a:rPr b="0" i="0" lang="en-GB" sz="6933" u="none" cap="none" strike="noStrike">
                <a:solidFill>
                  <a:srgbClr val="FFFFFF"/>
                </a:solidFill>
                <a:latin typeface="Roboto Serif SemiBold"/>
                <a:ea typeface="Roboto Serif SemiBold"/>
                <a:cs typeface="Roboto Serif SemiBold"/>
                <a:sym typeface="Roboto Serif SemiBold"/>
              </a:rPr>
              <a:t>Thanks for Coming!</a:t>
            </a:r>
            <a:endParaRPr b="0" i="0" sz="6933" u="none" cap="none" strike="noStrike">
              <a:solidFill>
                <a:srgbClr val="FFFFFF"/>
              </a:solidFill>
              <a:latin typeface="Roboto Serif SemiBold"/>
              <a:ea typeface="Roboto Serif SemiBold"/>
              <a:cs typeface="Roboto Serif SemiBold"/>
              <a:sym typeface="Roboto Serif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f6e57068a5_0_0"/>
          <p:cNvSpPr txBox="1"/>
          <p:nvPr/>
        </p:nvSpPr>
        <p:spPr>
          <a:xfrm>
            <a:off x="415600" y="593367"/>
            <a:ext cx="11360700" cy="7635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1" lang="en-GB" sz="2800">
                <a:solidFill>
                  <a:srgbClr val="FFFFFF"/>
                </a:solidFill>
                <a:latin typeface="Roboto"/>
                <a:ea typeface="Roboto"/>
                <a:cs typeface="Roboto"/>
                <a:sym typeface="Roboto"/>
              </a:rPr>
              <a:t>Table of </a:t>
            </a:r>
            <a:r>
              <a:rPr b="1" lang="en-GB" sz="2800">
                <a:solidFill>
                  <a:srgbClr val="FFFFFF"/>
                </a:solidFill>
                <a:latin typeface="Roboto"/>
                <a:ea typeface="Roboto"/>
                <a:cs typeface="Roboto"/>
                <a:sym typeface="Roboto"/>
              </a:rPr>
              <a:t>contents</a:t>
            </a:r>
            <a:r>
              <a:rPr b="1" lang="en-GB" sz="2800">
                <a:solidFill>
                  <a:srgbClr val="FFFFFF"/>
                </a:solidFill>
                <a:latin typeface="Roboto"/>
                <a:ea typeface="Roboto"/>
                <a:cs typeface="Roboto"/>
                <a:sym typeface="Roboto"/>
              </a:rPr>
              <a:t> (outline)</a:t>
            </a:r>
            <a:endParaRPr b="1" i="0" sz="2800" u="none" cap="none" strike="noStrike">
              <a:solidFill>
                <a:srgbClr val="FFFFFF"/>
              </a:solidFill>
              <a:latin typeface="Roboto"/>
              <a:ea typeface="Roboto"/>
              <a:cs typeface="Roboto"/>
              <a:sym typeface="Roboto"/>
            </a:endParaRPr>
          </a:p>
        </p:txBody>
      </p:sp>
      <p:sp>
        <p:nvSpPr>
          <p:cNvPr id="213" name="Google Shape;213;g3f6e57068a5_0_0"/>
          <p:cNvSpPr txBox="1"/>
          <p:nvPr/>
        </p:nvSpPr>
        <p:spPr>
          <a:xfrm>
            <a:off x="415599" y="1536633"/>
            <a:ext cx="7837200" cy="4555200"/>
          </a:xfrm>
          <a:prstGeom prst="rect">
            <a:avLst/>
          </a:prstGeom>
          <a:noFill/>
          <a:ln>
            <a:noFill/>
          </a:ln>
        </p:spPr>
        <p:txBody>
          <a:bodyPr anchorCtr="0" anchor="t" bIns="91425" lIns="91425" spcFirstLastPara="1" rIns="91425" wrap="square" tIns="91425">
            <a:normAutofit fontScale="70000" lnSpcReduction="20000"/>
          </a:bodyPr>
          <a:lstStyle/>
          <a:p>
            <a:pPr indent="-326390" lvl="0" marL="457200" marR="0" rtl="0" algn="l">
              <a:lnSpc>
                <a:spcPct val="115000"/>
              </a:lnSpc>
              <a:spcBef>
                <a:spcPts val="2000"/>
              </a:spcBef>
              <a:spcAft>
                <a:spcPts val="0"/>
              </a:spcAft>
              <a:buClr>
                <a:schemeClr val="accent1"/>
              </a:buClr>
              <a:buSzPct val="91667"/>
              <a:buFont typeface="Roboto Medium"/>
              <a:buChar char="&gt;"/>
            </a:pPr>
            <a:r>
              <a:rPr lang="en-GB" sz="2400">
                <a:solidFill>
                  <a:srgbClr val="D5D5D5"/>
                </a:solidFill>
                <a:latin typeface="Roboto Medium"/>
                <a:ea typeface="Roboto Medium"/>
                <a:cs typeface="Roboto Medium"/>
                <a:sym typeface="Roboto Medium"/>
              </a:rPr>
              <a:t>d</a:t>
            </a:r>
            <a:r>
              <a:rPr lang="en-GB" sz="2400">
                <a:solidFill>
                  <a:srgbClr val="D5D5D5"/>
                </a:solidFill>
                <a:latin typeface="Roboto Medium"/>
                <a:ea typeface="Roboto Medium"/>
                <a:cs typeface="Roboto Medium"/>
                <a:sym typeface="Roboto Medium"/>
              </a:rPr>
              <a:t>ependencies </a:t>
            </a:r>
            <a:endParaRPr sz="2400">
              <a:solidFill>
                <a:srgbClr val="D5D5D5"/>
              </a:solidFill>
              <a:latin typeface="Roboto Medium"/>
              <a:ea typeface="Roboto Medium"/>
              <a:cs typeface="Roboto Medium"/>
              <a:sym typeface="Roboto Medium"/>
            </a:endParaRPr>
          </a:p>
          <a:p>
            <a:pPr indent="-326390" lvl="0" marL="457200" marR="0" rtl="0" algn="l">
              <a:lnSpc>
                <a:spcPct val="115000"/>
              </a:lnSpc>
              <a:spcBef>
                <a:spcPts val="2000"/>
              </a:spcBef>
              <a:spcAft>
                <a:spcPts val="0"/>
              </a:spcAft>
              <a:buClr>
                <a:schemeClr val="accent1"/>
              </a:buClr>
              <a:buSzPct val="91667"/>
              <a:buFont typeface="Roboto Medium"/>
              <a:buChar char="&gt;"/>
            </a:pPr>
            <a:r>
              <a:rPr lang="en-GB" sz="2400">
                <a:solidFill>
                  <a:srgbClr val="D5D5D5"/>
                </a:solidFill>
                <a:latin typeface="Roboto Medium"/>
                <a:ea typeface="Roboto Medium"/>
                <a:cs typeface="Roboto Medium"/>
                <a:sym typeface="Roboto Medium"/>
              </a:rPr>
              <a:t>virtual environment</a:t>
            </a:r>
            <a:endParaRPr sz="2400">
              <a:solidFill>
                <a:srgbClr val="D5D5D5"/>
              </a:solidFill>
              <a:latin typeface="Roboto Medium"/>
              <a:ea typeface="Roboto Medium"/>
              <a:cs typeface="Roboto Medium"/>
              <a:sym typeface="Roboto Medium"/>
            </a:endParaRPr>
          </a:p>
          <a:p>
            <a:pPr indent="-335280" lvl="1" marL="914400" marR="0" rtl="0" algn="l">
              <a:lnSpc>
                <a:spcPct val="115000"/>
              </a:lnSpc>
              <a:spcBef>
                <a:spcPts val="2000"/>
              </a:spcBef>
              <a:spcAft>
                <a:spcPts val="0"/>
              </a:spcAft>
              <a:buClr>
                <a:srgbClr val="D5D5D5"/>
              </a:buClr>
              <a:buSzPct val="100000"/>
              <a:buFont typeface="Roboto Medium"/>
              <a:buChar char="○"/>
            </a:pPr>
            <a:r>
              <a:rPr lang="en-GB" sz="2400">
                <a:solidFill>
                  <a:srgbClr val="D5D5D5"/>
                </a:solidFill>
                <a:latin typeface="Roboto Medium"/>
                <a:ea typeface="Roboto Medium"/>
                <a:cs typeface="Roboto Medium"/>
                <a:sym typeface="Roboto Medium"/>
              </a:rPr>
              <a:t>Create venv</a:t>
            </a:r>
            <a:endParaRPr sz="2400">
              <a:solidFill>
                <a:srgbClr val="D5D5D5"/>
              </a:solidFill>
              <a:latin typeface="Roboto Medium"/>
              <a:ea typeface="Roboto Medium"/>
              <a:cs typeface="Roboto Medium"/>
              <a:sym typeface="Roboto Medium"/>
            </a:endParaRPr>
          </a:p>
          <a:p>
            <a:pPr indent="-335280" lvl="1" marL="914400" marR="0" rtl="0" algn="l">
              <a:lnSpc>
                <a:spcPct val="115000"/>
              </a:lnSpc>
              <a:spcBef>
                <a:spcPts val="2000"/>
              </a:spcBef>
              <a:spcAft>
                <a:spcPts val="0"/>
              </a:spcAft>
              <a:buClr>
                <a:srgbClr val="D5D5D5"/>
              </a:buClr>
              <a:buSzPct val="100000"/>
              <a:buFont typeface="Roboto Medium"/>
              <a:buChar char="○"/>
            </a:pPr>
            <a:r>
              <a:rPr lang="en-GB" sz="2400">
                <a:solidFill>
                  <a:srgbClr val="D5D5D5"/>
                </a:solidFill>
                <a:latin typeface="Roboto Medium"/>
                <a:ea typeface="Roboto Medium"/>
                <a:cs typeface="Roboto Medium"/>
                <a:sym typeface="Roboto Medium"/>
              </a:rPr>
              <a:t>Download </a:t>
            </a:r>
            <a:r>
              <a:rPr lang="en-GB" sz="2400">
                <a:solidFill>
                  <a:srgbClr val="D5D5D5"/>
                </a:solidFill>
                <a:latin typeface="Roboto Medium"/>
                <a:ea typeface="Roboto Medium"/>
                <a:cs typeface="Roboto Medium"/>
                <a:sym typeface="Roboto Medium"/>
              </a:rPr>
              <a:t>dependencies (from requirements.txt…)</a:t>
            </a:r>
            <a:endParaRPr sz="2400">
              <a:solidFill>
                <a:srgbClr val="D5D5D5"/>
              </a:solidFill>
              <a:latin typeface="Roboto Medium"/>
              <a:ea typeface="Roboto Medium"/>
              <a:cs typeface="Roboto Medium"/>
              <a:sym typeface="Roboto Medium"/>
            </a:endParaRPr>
          </a:p>
          <a:p>
            <a:pPr indent="-326390" lvl="0" marL="457200" marR="0" rtl="0" algn="l">
              <a:lnSpc>
                <a:spcPct val="115000"/>
              </a:lnSpc>
              <a:spcBef>
                <a:spcPts val="2000"/>
              </a:spcBef>
              <a:spcAft>
                <a:spcPts val="0"/>
              </a:spcAft>
              <a:buClr>
                <a:schemeClr val="accent1"/>
              </a:buClr>
              <a:buSzPct val="91667"/>
              <a:buFont typeface="Roboto Medium"/>
              <a:buChar char="&gt;"/>
            </a:pPr>
            <a:r>
              <a:rPr lang="en-GB" sz="2400">
                <a:solidFill>
                  <a:srgbClr val="D5D5D5"/>
                </a:solidFill>
                <a:latin typeface="Roboto Medium"/>
                <a:ea typeface="Roboto Medium"/>
                <a:cs typeface="Roboto Medium"/>
                <a:sym typeface="Roboto Medium"/>
              </a:rPr>
              <a:t>toml files? </a:t>
            </a:r>
            <a:endParaRPr sz="2400">
              <a:solidFill>
                <a:srgbClr val="D5D5D5"/>
              </a:solidFill>
              <a:latin typeface="Roboto Medium"/>
              <a:ea typeface="Roboto Medium"/>
              <a:cs typeface="Roboto Medium"/>
              <a:sym typeface="Roboto Medium"/>
            </a:endParaRPr>
          </a:p>
          <a:p>
            <a:pPr indent="-326390" lvl="0" marL="457200" marR="0" rtl="0" algn="l">
              <a:lnSpc>
                <a:spcPct val="115000"/>
              </a:lnSpc>
              <a:spcBef>
                <a:spcPts val="2000"/>
              </a:spcBef>
              <a:spcAft>
                <a:spcPts val="0"/>
              </a:spcAft>
              <a:buClr>
                <a:schemeClr val="accent1"/>
              </a:buClr>
              <a:buSzPct val="91667"/>
              <a:buFont typeface="Roboto Medium"/>
              <a:buChar char="&gt;"/>
            </a:pPr>
            <a:r>
              <a:rPr lang="en-GB" sz="2400">
                <a:solidFill>
                  <a:srgbClr val="D5D5D5"/>
                </a:solidFill>
                <a:latin typeface="Roboto Medium"/>
                <a:ea typeface="Roboto Medium"/>
                <a:cs typeface="Roboto Medium"/>
                <a:sym typeface="Roboto Medium"/>
              </a:rPr>
              <a:t>d</a:t>
            </a:r>
            <a:r>
              <a:rPr lang="en-GB" sz="2400">
                <a:solidFill>
                  <a:srgbClr val="D5D5D5"/>
                </a:solidFill>
                <a:latin typeface="Roboto Medium"/>
                <a:ea typeface="Roboto Medium"/>
                <a:cs typeface="Roboto Medium"/>
                <a:sym typeface="Roboto Medium"/>
              </a:rPr>
              <a:t>ocker </a:t>
            </a:r>
            <a:endParaRPr sz="2400">
              <a:solidFill>
                <a:srgbClr val="D5D5D5"/>
              </a:solidFill>
              <a:latin typeface="Roboto Medium"/>
              <a:ea typeface="Roboto Medium"/>
              <a:cs typeface="Roboto Medium"/>
              <a:sym typeface="Roboto Medium"/>
            </a:endParaRPr>
          </a:p>
          <a:p>
            <a:pPr indent="-335280" lvl="1" marL="914400" marR="0" rtl="0" algn="l">
              <a:lnSpc>
                <a:spcPct val="115000"/>
              </a:lnSpc>
              <a:spcBef>
                <a:spcPts val="2000"/>
              </a:spcBef>
              <a:spcAft>
                <a:spcPts val="0"/>
              </a:spcAft>
              <a:buClr>
                <a:srgbClr val="D5D5D5"/>
              </a:buClr>
              <a:buSzPct val="100000"/>
              <a:buFont typeface="Roboto Medium"/>
              <a:buChar char="○"/>
            </a:pPr>
            <a:r>
              <a:rPr lang="en-GB" sz="2400">
                <a:solidFill>
                  <a:srgbClr val="D5D5D5"/>
                </a:solidFill>
                <a:latin typeface="Roboto Medium"/>
                <a:ea typeface="Roboto Medium"/>
                <a:cs typeface="Roboto Medium"/>
                <a:sym typeface="Roboto Medium"/>
              </a:rPr>
              <a:t>Container vs image</a:t>
            </a:r>
            <a:endParaRPr sz="2400">
              <a:solidFill>
                <a:srgbClr val="D5D5D5"/>
              </a:solidFill>
              <a:latin typeface="Roboto Medium"/>
              <a:ea typeface="Roboto Medium"/>
              <a:cs typeface="Roboto Medium"/>
              <a:sym typeface="Roboto Medium"/>
            </a:endParaRPr>
          </a:p>
          <a:p>
            <a:pPr indent="-335280" lvl="1" marL="914400" marR="0" rtl="0" algn="l">
              <a:lnSpc>
                <a:spcPct val="115000"/>
              </a:lnSpc>
              <a:spcBef>
                <a:spcPts val="2000"/>
              </a:spcBef>
              <a:spcAft>
                <a:spcPts val="0"/>
              </a:spcAft>
              <a:buClr>
                <a:srgbClr val="D5D5D5"/>
              </a:buClr>
              <a:buSzPct val="100000"/>
              <a:buFont typeface="Roboto Medium"/>
              <a:buChar char="○"/>
            </a:pPr>
            <a:r>
              <a:rPr lang="en-GB" sz="2400">
                <a:solidFill>
                  <a:srgbClr val="D5D5D5"/>
                </a:solidFill>
                <a:latin typeface="Roboto Medium"/>
                <a:ea typeface="Roboto Medium"/>
                <a:cs typeface="Roboto Medium"/>
                <a:sym typeface="Roboto Medium"/>
              </a:rPr>
              <a:t>Build &amp; run image</a:t>
            </a:r>
            <a:endParaRPr sz="2400">
              <a:solidFill>
                <a:srgbClr val="D5D5D5"/>
              </a:solidFill>
              <a:latin typeface="Roboto Medium"/>
              <a:ea typeface="Roboto Medium"/>
              <a:cs typeface="Roboto Medium"/>
              <a:sym typeface="Roboto Medium"/>
            </a:endParaRPr>
          </a:p>
          <a:p>
            <a:pPr indent="-335280" lvl="1" marL="914400" marR="0" rtl="0" algn="l">
              <a:lnSpc>
                <a:spcPct val="115000"/>
              </a:lnSpc>
              <a:spcBef>
                <a:spcPts val="2000"/>
              </a:spcBef>
              <a:spcAft>
                <a:spcPts val="0"/>
              </a:spcAft>
              <a:buClr>
                <a:srgbClr val="D5D5D5"/>
              </a:buClr>
              <a:buSzPct val="100000"/>
              <a:buFont typeface="Roboto Medium"/>
              <a:buChar char="○"/>
            </a:pPr>
            <a:r>
              <a:rPr lang="en-GB" sz="2400">
                <a:solidFill>
                  <a:srgbClr val="D5D5D5"/>
                </a:solidFill>
                <a:latin typeface="Roboto Medium"/>
                <a:ea typeface="Roboto Medium"/>
                <a:cs typeface="Roboto Medium"/>
                <a:sym typeface="Roboto Medium"/>
              </a:rPr>
              <a:t>R</a:t>
            </a:r>
            <a:r>
              <a:rPr lang="en-GB" sz="2400">
                <a:solidFill>
                  <a:srgbClr val="D5D5D5"/>
                </a:solidFill>
                <a:latin typeface="Roboto Medium"/>
                <a:ea typeface="Roboto Medium"/>
                <a:cs typeface="Roboto Medium"/>
                <a:sym typeface="Roboto Medium"/>
              </a:rPr>
              <a:t>un multiple dockers (introduction only)</a:t>
            </a:r>
            <a:endParaRPr sz="2400">
              <a:solidFill>
                <a:srgbClr val="D5D5D5"/>
              </a:solidFill>
              <a:latin typeface="Roboto Medium"/>
              <a:ea typeface="Roboto Medium"/>
              <a:cs typeface="Roboto Medium"/>
              <a:sym typeface="Roboto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1_InfPALS">
  <a:themeElements>
    <a:clrScheme name="Simple Light">
      <a:dk1>
        <a:srgbClr val="FFFFFF"/>
      </a:dk1>
      <a:lt1>
        <a:srgbClr val="D5D5D5"/>
      </a:lt1>
      <a:dk2>
        <a:srgbClr val="CCCCCC"/>
      </a:dk2>
      <a:lt2>
        <a:srgbClr val="000000"/>
      </a:lt2>
      <a:accent1>
        <a:srgbClr val="D9534F"/>
      </a:accent1>
      <a:accent2>
        <a:srgbClr val="212121"/>
      </a:accent2>
      <a:accent3>
        <a:srgbClr val="78909C"/>
      </a:accent3>
      <a:accent4>
        <a:srgbClr val="FFC83D"/>
      </a:accent4>
      <a:accent5>
        <a:srgbClr val="325D88"/>
      </a:accent5>
      <a:accent6>
        <a:srgbClr val="E91C51"/>
      </a:accent6>
      <a:hlink>
        <a:srgbClr val="5F52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2023-07-01T11:43:35Z</dcterms:created>
  <dc:creator>Elliot Lister</dc:creator>
</cp:coreProperties>
</file>